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10287000" cx="18288000"/>
  <p:notesSz cx="10287000" cy="18288000"/>
  <p:embeddedFontLst>
    <p:embeddedFont>
      <p:font typeface="Space Mono"/>
      <p:regular r:id="rId18"/>
      <p:bold r:id="rId19"/>
      <p:italic r:id="rId20"/>
      <p:boldItalic r:id="rId21"/>
    </p:embeddedFont>
    <p:embeddedFont>
      <p:font typeface="Outfit"/>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ilU1cR1q1FBpi031d00/C6+sjf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SpaceMono-italic.fntdata"/><Relationship Id="rId11" Type="http://schemas.openxmlformats.org/officeDocument/2006/relationships/slide" Target="slides/slide7.xml"/><Relationship Id="rId22" Type="http://schemas.openxmlformats.org/officeDocument/2006/relationships/font" Target="fonts/Outfit-regular.fntdata"/><Relationship Id="rId10" Type="http://schemas.openxmlformats.org/officeDocument/2006/relationships/slide" Target="slides/slide6.xml"/><Relationship Id="rId21" Type="http://schemas.openxmlformats.org/officeDocument/2006/relationships/font" Target="fonts/SpaceMono-boldItalic.fntdata"/><Relationship Id="rId13" Type="http://schemas.openxmlformats.org/officeDocument/2006/relationships/slide" Target="slides/slide9.xml"/><Relationship Id="rId24" Type="http://customschemas.google.com/relationships/presentationmetadata" Target="metadata"/><Relationship Id="rId12" Type="http://schemas.openxmlformats.org/officeDocument/2006/relationships/slide" Target="slides/slide8.xml"/><Relationship Id="rId23" Type="http://schemas.openxmlformats.org/officeDocument/2006/relationships/font" Target="fonts/Outfit-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SpaceMono-bold.fntdata"/><Relationship Id="rId6" Type="http://schemas.openxmlformats.org/officeDocument/2006/relationships/slide" Target="slides/slide2.xml"/><Relationship Id="rId18" Type="http://schemas.openxmlformats.org/officeDocument/2006/relationships/font" Target="fonts/SpaceMono-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m402-web-three.vercel.app/"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jpg"/><Relationship Id="rId4" Type="http://schemas.openxmlformats.org/officeDocument/2006/relationships/image" Target="../media/image4.jpg"/><Relationship Id="rId5"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hyperlink" Target="https://m402-web-three.vercel.ap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5" name="Shape 15"/>
        <p:cNvGrpSpPr/>
        <p:nvPr/>
      </p:nvGrpSpPr>
      <p:grpSpPr>
        <a:xfrm>
          <a:off x="0" y="0"/>
          <a:ext cx="0" cy="0"/>
          <a:chOff x="0" y="0"/>
          <a:chExt cx="0" cy="0"/>
        </a:xfrm>
      </p:grpSpPr>
      <p:sp>
        <p:nvSpPr>
          <p:cNvPr id="16" name="Google Shape;16;p1"/>
          <p:cNvSpPr/>
          <p:nvPr/>
        </p:nvSpPr>
        <p:spPr>
          <a:xfrm>
            <a:off x="1238203" y="104774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1" i="0" lang="en-US" sz="1500" u="none" cap="none" strike="noStrike">
                <a:solidFill>
                  <a:srgbClr val="8F8F8F"/>
                </a:solidFill>
                <a:latin typeface="Space Mono"/>
                <a:ea typeface="Space Mono"/>
                <a:cs typeface="Space Mono"/>
                <a:sym typeface="Space Mono"/>
              </a:rPr>
              <a:t>MIDNIGHT HACKATHON</a:t>
            </a:r>
            <a:endParaRPr b="0" i="0" sz="1500" u="none" cap="none" strike="noStrike">
              <a:solidFill>
                <a:schemeClr val="dk1"/>
              </a:solidFill>
              <a:latin typeface="Calibri"/>
              <a:ea typeface="Calibri"/>
              <a:cs typeface="Calibri"/>
              <a:sym typeface="Calibri"/>
            </a:endParaRPr>
          </a:p>
        </p:txBody>
      </p:sp>
      <p:sp>
        <p:nvSpPr>
          <p:cNvPr id="17" name="Google Shape;17;p1"/>
          <p:cNvSpPr/>
          <p:nvPr/>
        </p:nvSpPr>
        <p:spPr>
          <a:xfrm>
            <a:off x="1238203" y="3660124"/>
            <a:ext cx="17392647" cy="1028721"/>
          </a:xfrm>
          <a:prstGeom prst="rect">
            <a:avLst/>
          </a:prstGeom>
          <a:noFill/>
          <a:ln>
            <a:noFill/>
          </a:ln>
        </p:spPr>
        <p:txBody>
          <a:bodyPr anchorCtr="0" anchor="t" bIns="25400" lIns="25400" spcFirstLastPara="1" rIns="25400" wrap="square" tIns="25400">
            <a:normAutofit/>
          </a:bodyPr>
          <a:lstStyle/>
          <a:p>
            <a:pPr indent="0" lvl="0" marL="0" marR="0" rtl="0" algn="l">
              <a:lnSpc>
                <a:spcPct val="67620"/>
              </a:lnSpc>
              <a:spcBef>
                <a:spcPts val="0"/>
              </a:spcBef>
              <a:spcAft>
                <a:spcPts val="0"/>
              </a:spcAft>
              <a:buClr>
                <a:srgbClr val="FFFFFF"/>
              </a:buClr>
              <a:buSzPts val="7800"/>
              <a:buFont typeface="Space Mono"/>
              <a:buNone/>
            </a:pPr>
            <a:r>
              <a:rPr b="1" i="0" lang="en-US" sz="7800" u="none" cap="none" strike="noStrike">
                <a:solidFill>
                  <a:srgbClr val="FFFFFF"/>
                </a:solidFill>
                <a:latin typeface="Space Mono"/>
                <a:ea typeface="Space Mono"/>
                <a:cs typeface="Space Mono"/>
                <a:sym typeface="Space Mono"/>
              </a:rPr>
              <a:t>m</a:t>
            </a:r>
            <a:r>
              <a:rPr b="1" i="0" lang="en-US" sz="7800" u="none" cap="none" strike="noStrike">
                <a:solidFill>
                  <a:srgbClr val="0000FE"/>
                </a:solidFill>
                <a:latin typeface="Space Mono"/>
                <a:ea typeface="Space Mono"/>
                <a:cs typeface="Space Mono"/>
                <a:sym typeface="Space Mono"/>
              </a:rPr>
              <a:t>402</a:t>
            </a:r>
            <a:endParaRPr b="0" i="0" sz="7800" u="none" cap="none" strike="noStrike">
              <a:solidFill>
                <a:schemeClr val="dk1"/>
              </a:solidFill>
              <a:latin typeface="Calibri"/>
              <a:ea typeface="Calibri"/>
              <a:cs typeface="Calibri"/>
              <a:sym typeface="Calibri"/>
            </a:endParaRPr>
          </a:p>
        </p:txBody>
      </p:sp>
      <p:sp>
        <p:nvSpPr>
          <p:cNvPr id="18" name="Google Shape;18;p1"/>
          <p:cNvSpPr/>
          <p:nvPr/>
        </p:nvSpPr>
        <p:spPr>
          <a:xfrm>
            <a:off x="1238203" y="5031656"/>
            <a:ext cx="14668492" cy="819876"/>
          </a:xfrm>
          <a:prstGeom prst="rect">
            <a:avLst/>
          </a:prstGeom>
          <a:noFill/>
          <a:ln>
            <a:noFill/>
          </a:ln>
        </p:spPr>
        <p:txBody>
          <a:bodyPr anchorCtr="0" anchor="t" bIns="25400" lIns="25400" spcFirstLastPara="1" rIns="25400" wrap="square" tIns="25400">
            <a:normAutofit/>
          </a:bodyPr>
          <a:lstStyle/>
          <a:p>
            <a:pPr indent="0" lvl="0" marL="0" marR="0" rtl="0" algn="l">
              <a:lnSpc>
                <a:spcPct val="85535"/>
              </a:lnSpc>
              <a:spcBef>
                <a:spcPts val="0"/>
              </a:spcBef>
              <a:spcAft>
                <a:spcPts val="0"/>
              </a:spcAft>
              <a:buClr>
                <a:srgbClr val="FFFFFF"/>
              </a:buClr>
              <a:buSzPts val="5700"/>
              <a:buFont typeface="Outfit"/>
              <a:buNone/>
            </a:pPr>
            <a:r>
              <a:rPr b="0" i="0" lang="en-US" sz="5700" u="none" cap="none" strike="noStrike">
                <a:solidFill>
                  <a:srgbClr val="FFFFFF"/>
                </a:solidFill>
                <a:latin typeface="Outfit"/>
                <a:ea typeface="Outfit"/>
                <a:cs typeface="Outfit"/>
                <a:sym typeface="Outfit"/>
              </a:rPr>
              <a:t>Private agentic payments on Midnight.</a:t>
            </a:r>
            <a:endParaRPr b="0" i="0" sz="5700" u="none" cap="none" strike="noStrike">
              <a:solidFill>
                <a:schemeClr val="dk1"/>
              </a:solidFill>
              <a:latin typeface="Calibri"/>
              <a:ea typeface="Calibri"/>
              <a:cs typeface="Calibri"/>
              <a:sym typeface="Calibri"/>
            </a:endParaRPr>
          </a:p>
        </p:txBody>
      </p:sp>
      <p:sp>
        <p:nvSpPr>
          <p:cNvPr id="19" name="Google Shape;19;p1"/>
          <p:cNvSpPr/>
          <p:nvPr/>
        </p:nvSpPr>
        <p:spPr>
          <a:xfrm>
            <a:off x="1238203" y="6194342"/>
            <a:ext cx="11525230" cy="466649"/>
          </a:xfrm>
          <a:prstGeom prst="rect">
            <a:avLst/>
          </a:prstGeom>
          <a:noFill/>
          <a:ln>
            <a:noFill/>
          </a:ln>
        </p:spPr>
        <p:txBody>
          <a:bodyPr anchorCtr="0" anchor="t" bIns="25400" lIns="25400" spcFirstLastPara="1" rIns="25400" wrap="square" tIns="25400">
            <a:normAutofit/>
          </a:bodyPr>
          <a:lstStyle/>
          <a:p>
            <a:pPr indent="0" lvl="0" marL="0" marR="0" rtl="0" algn="l">
              <a:lnSpc>
                <a:spcPct val="131664"/>
              </a:lnSpc>
              <a:spcBef>
                <a:spcPts val="0"/>
              </a:spcBef>
              <a:spcAft>
                <a:spcPts val="0"/>
              </a:spcAft>
              <a:buClr>
                <a:srgbClr val="B5B5B5"/>
              </a:buClr>
              <a:buSzPts val="2250"/>
              <a:buFont typeface="Arial"/>
              <a:buNone/>
            </a:pPr>
            <a:r>
              <a:rPr b="0" i="0" lang="en-US" sz="2250" u="none" cap="none" strike="noStrike">
                <a:solidFill>
                  <a:srgbClr val="B5B5B5"/>
                </a:solidFill>
                <a:latin typeface="Arial"/>
                <a:ea typeface="Arial"/>
                <a:cs typeface="Arial"/>
                <a:sym typeface="Arial"/>
              </a:rPr>
              <a:t>x402, with no payer attached to the payment.</a:t>
            </a:r>
            <a:endParaRPr b="0" i="0" sz="2250" u="none" cap="none" strike="noStrike">
              <a:solidFill>
                <a:schemeClr val="dk1"/>
              </a:solidFill>
              <a:latin typeface="Calibri"/>
              <a:ea typeface="Calibri"/>
              <a:cs typeface="Calibri"/>
              <a:sym typeface="Calibri"/>
            </a:endParaRPr>
          </a:p>
        </p:txBody>
      </p:sp>
      <p:pic>
        <p:nvPicPr>
          <p:cNvPr descr="preencoded.png" id="20" name="Google Shape;20;p1"/>
          <p:cNvPicPr preferRelativeResize="0"/>
          <p:nvPr/>
        </p:nvPicPr>
        <p:blipFill rotWithShape="1">
          <a:blip r:embed="rId3">
            <a:alphaModFix/>
          </a:blip>
          <a:srcRect b="0" l="0" r="0" t="0"/>
          <a:stretch/>
        </p:blipFill>
        <p:spPr>
          <a:xfrm>
            <a:off x="1238203" y="8953448"/>
            <a:ext cx="285732" cy="285732"/>
          </a:xfrm>
          <a:prstGeom prst="rect">
            <a:avLst/>
          </a:prstGeom>
          <a:noFill/>
          <a:ln>
            <a:noFill/>
          </a:ln>
        </p:spPr>
      </p:pic>
      <p:sp>
        <p:nvSpPr>
          <p:cNvPr id="21" name="Google Shape;21;p1"/>
          <p:cNvSpPr/>
          <p:nvPr/>
        </p:nvSpPr>
        <p:spPr>
          <a:xfrm>
            <a:off x="2057249" y="8955405"/>
            <a:ext cx="192801"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D4D4D"/>
              </a:buClr>
              <a:buSzPts val="1500"/>
              <a:buFont typeface="Space Mono"/>
              <a:buNone/>
            </a:pPr>
            <a:r>
              <a:rPr b="0" i="0" lang="en-US" sz="1500" u="none" cap="none" strike="noStrike">
                <a:solidFill>
                  <a:srgbClr val="4D4D4D"/>
                </a:solidFill>
                <a:latin typeface="Space Mono"/>
                <a:ea typeface="Space Mono"/>
                <a:cs typeface="Space Mono"/>
                <a:sym typeface="Space Mono"/>
              </a:rPr>
              <a:t>·</a:t>
            </a:r>
            <a:endParaRPr b="0" i="0" sz="1500" u="none" cap="none" strike="noStrike">
              <a:solidFill>
                <a:schemeClr val="dk1"/>
              </a:solidFill>
              <a:latin typeface="Calibri"/>
              <a:ea typeface="Calibri"/>
              <a:cs typeface="Calibri"/>
              <a:sym typeface="Calibri"/>
            </a:endParaRPr>
          </a:p>
        </p:txBody>
      </p:sp>
      <p:sp>
        <p:nvSpPr>
          <p:cNvPr id="22" name="Google Shape;22;p1"/>
          <p:cNvSpPr/>
          <p:nvPr/>
        </p:nvSpPr>
        <p:spPr>
          <a:xfrm>
            <a:off x="2707164" y="8955405"/>
            <a:ext cx="892115"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0" i="0" lang="en-US" sz="1500" u="none" cap="none" strike="noStrike">
                <a:solidFill>
                  <a:srgbClr val="8F8F8F"/>
                </a:solidFill>
                <a:latin typeface="Space Mono"/>
                <a:ea typeface="Space Mono"/>
                <a:cs typeface="Space Mono"/>
                <a:sym typeface="Space Mono"/>
              </a:rPr>
              <a:t>01 / 13</a:t>
            </a:r>
            <a:endParaRPr b="0" i="0" sz="1500" u="none" cap="none" strike="noStrike">
              <a:solidFill>
                <a:schemeClr val="dk1"/>
              </a:solidFill>
              <a:latin typeface="Calibri"/>
              <a:ea typeface="Calibri"/>
              <a:cs typeface="Calibri"/>
              <a:sym typeface="Calibri"/>
            </a:endParaRPr>
          </a:p>
        </p:txBody>
      </p:sp>
      <p:sp>
        <p:nvSpPr>
          <p:cNvPr id="23" name="Google Shape;23;p1"/>
          <p:cNvSpPr/>
          <p:nvPr/>
        </p:nvSpPr>
        <p:spPr>
          <a:xfrm>
            <a:off x="1259814" y="7289212"/>
            <a:ext cx="14668500" cy="819900"/>
          </a:xfrm>
          <a:prstGeom prst="rect">
            <a:avLst/>
          </a:prstGeom>
          <a:noFill/>
          <a:ln>
            <a:noFill/>
          </a:ln>
        </p:spPr>
        <p:txBody>
          <a:bodyPr anchorCtr="0" anchor="t" bIns="25400" lIns="25400" spcFirstLastPara="1" rIns="25400" wrap="square" tIns="25400">
            <a:noAutofit/>
          </a:bodyPr>
          <a:lstStyle/>
          <a:p>
            <a:pPr indent="0" lvl="0" marL="0" marR="0" rtl="0" algn="l">
              <a:lnSpc>
                <a:spcPct val="85535"/>
              </a:lnSpc>
              <a:spcBef>
                <a:spcPts val="0"/>
              </a:spcBef>
              <a:spcAft>
                <a:spcPts val="0"/>
              </a:spcAft>
              <a:buClr>
                <a:srgbClr val="FFFFFF"/>
              </a:buClr>
              <a:buSzPts val="5700"/>
              <a:buFont typeface="Outfit"/>
              <a:buNone/>
            </a:pPr>
            <a:r>
              <a:rPr lang="en-US" sz="4600" u="sng">
                <a:solidFill>
                  <a:schemeClr val="hlink"/>
                </a:solidFill>
                <a:latin typeface="Outfit"/>
                <a:ea typeface="Outfit"/>
                <a:cs typeface="Outfit"/>
                <a:sym typeface="Outfit"/>
                <a:hlinkClick r:id="rId4"/>
              </a:rPr>
              <a:t>Link to the site</a:t>
            </a:r>
            <a:endParaRPr b="0" i="0" sz="4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8" name="Shape 28"/>
        <p:cNvGrpSpPr/>
        <p:nvPr/>
      </p:nvGrpSpPr>
      <p:grpSpPr>
        <a:xfrm>
          <a:off x="0" y="0"/>
          <a:ext cx="0" cy="0"/>
          <a:chOff x="0" y="0"/>
          <a:chExt cx="0" cy="0"/>
        </a:xfrm>
      </p:grpSpPr>
      <p:sp>
        <p:nvSpPr>
          <p:cNvPr id="29" name="Google Shape;29;p2"/>
          <p:cNvSpPr/>
          <p:nvPr/>
        </p:nvSpPr>
        <p:spPr>
          <a:xfrm>
            <a:off x="1238203" y="104774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1" i="0" lang="en-US" sz="1500" u="none" cap="none" strike="noStrike">
                <a:solidFill>
                  <a:srgbClr val="8F8F8F"/>
                </a:solidFill>
                <a:latin typeface="Space Mono"/>
                <a:ea typeface="Space Mono"/>
                <a:cs typeface="Space Mono"/>
                <a:sym typeface="Space Mono"/>
              </a:rPr>
              <a:t>THE PROBLEM</a:t>
            </a:r>
            <a:endParaRPr b="0" i="0" sz="1500" u="none" cap="none" strike="noStrike">
              <a:solidFill>
                <a:schemeClr val="dk1"/>
              </a:solidFill>
              <a:latin typeface="Calibri"/>
              <a:ea typeface="Calibri"/>
              <a:cs typeface="Calibri"/>
              <a:sym typeface="Calibri"/>
            </a:endParaRPr>
          </a:p>
        </p:txBody>
      </p:sp>
      <p:sp>
        <p:nvSpPr>
          <p:cNvPr id="30" name="Google Shape;30;p2"/>
          <p:cNvSpPr/>
          <p:nvPr/>
        </p:nvSpPr>
        <p:spPr>
          <a:xfrm>
            <a:off x="1238203" y="2240954"/>
            <a:ext cx="14668492" cy="666690"/>
          </a:xfrm>
          <a:prstGeom prst="rect">
            <a:avLst/>
          </a:prstGeom>
          <a:noFill/>
          <a:ln>
            <a:noFill/>
          </a:ln>
        </p:spPr>
        <p:txBody>
          <a:bodyPr anchorCtr="0" anchor="t" bIns="25400" lIns="25400" spcFirstLastPara="1" rIns="25400" wrap="square" tIns="25400">
            <a:normAutofit/>
          </a:bodyPr>
          <a:lstStyle/>
          <a:p>
            <a:pPr indent="0" lvl="0" marL="0" marR="0" rtl="0" algn="l">
              <a:lnSpc>
                <a:spcPct val="95634"/>
              </a:lnSpc>
              <a:spcBef>
                <a:spcPts val="0"/>
              </a:spcBef>
              <a:spcAft>
                <a:spcPts val="0"/>
              </a:spcAft>
              <a:buClr>
                <a:srgbClr val="FFFFFF"/>
              </a:buClr>
              <a:buSzPts val="4500"/>
              <a:buFont typeface="Arial"/>
              <a:buNone/>
            </a:pPr>
            <a:r>
              <a:rPr b="0" i="0" lang="en-US" sz="4500" u="none" cap="none" strike="noStrike">
                <a:solidFill>
                  <a:srgbClr val="FFFFFF"/>
                </a:solidFill>
                <a:latin typeface="Arial"/>
                <a:ea typeface="Arial"/>
                <a:cs typeface="Arial"/>
                <a:sym typeface="Arial"/>
              </a:rPr>
              <a:t>An agent that pays per call publishes its entire behaviour.</a:t>
            </a:r>
            <a:endParaRPr b="0" i="0" sz="4500" u="none" cap="none" strike="noStrike">
              <a:solidFill>
                <a:schemeClr val="dk1"/>
              </a:solidFill>
              <a:latin typeface="Calibri"/>
              <a:ea typeface="Calibri"/>
              <a:cs typeface="Calibri"/>
              <a:sym typeface="Calibri"/>
            </a:endParaRPr>
          </a:p>
        </p:txBody>
      </p:sp>
      <p:sp>
        <p:nvSpPr>
          <p:cNvPr id="31" name="Google Shape;31;p2"/>
          <p:cNvSpPr/>
          <p:nvPr/>
        </p:nvSpPr>
        <p:spPr>
          <a:xfrm>
            <a:off x="1238203" y="4719513"/>
            <a:ext cx="15811498"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1238203" y="3288604"/>
            <a:ext cx="15811498"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1238203" y="3561522"/>
            <a:ext cx="5629942" cy="533362"/>
          </a:xfrm>
          <a:prstGeom prst="rect">
            <a:avLst/>
          </a:prstGeom>
          <a:noFill/>
          <a:ln>
            <a:noFill/>
          </a:ln>
        </p:spPr>
        <p:txBody>
          <a:bodyPr anchorCtr="0" anchor="t" bIns="25400" lIns="25400" spcFirstLastPara="1" rIns="25400" wrap="square" tIns="25400">
            <a:normAutofit/>
          </a:bodyPr>
          <a:lstStyle/>
          <a:p>
            <a:pPr indent="0" lvl="0" marL="0" marR="0" rtl="0" algn="l">
              <a:lnSpc>
                <a:spcPct val="67047"/>
              </a:lnSpc>
              <a:spcBef>
                <a:spcPts val="0"/>
              </a:spcBef>
              <a:spcAft>
                <a:spcPts val="0"/>
              </a:spcAft>
              <a:buClr>
                <a:srgbClr val="FFFFFF"/>
              </a:buClr>
              <a:buSzPts val="3900"/>
              <a:buFont typeface="Space Mono"/>
              <a:buNone/>
            </a:pPr>
            <a:r>
              <a:rPr b="0" i="0" lang="en-US" sz="3900" u="none" cap="none" strike="noStrike">
                <a:solidFill>
                  <a:srgbClr val="FFFFFF"/>
                </a:solidFill>
                <a:latin typeface="Space Mono"/>
                <a:ea typeface="Space Mono"/>
                <a:cs typeface="Space Mono"/>
                <a:sym typeface="Space Mono"/>
              </a:rPr>
              <a:t>157.4M</a:t>
            </a:r>
            <a:endParaRPr b="0" i="0" sz="3900" u="none" cap="none" strike="noStrike">
              <a:solidFill>
                <a:schemeClr val="dk1"/>
              </a:solidFill>
              <a:latin typeface="Calibri"/>
              <a:ea typeface="Calibri"/>
              <a:cs typeface="Calibri"/>
              <a:sym typeface="Calibri"/>
            </a:endParaRPr>
          </a:p>
        </p:txBody>
      </p:sp>
      <p:sp>
        <p:nvSpPr>
          <p:cNvPr id="34" name="Google Shape;34;p2"/>
          <p:cNvSpPr/>
          <p:nvPr/>
        </p:nvSpPr>
        <p:spPr>
          <a:xfrm>
            <a:off x="1238203" y="4132887"/>
            <a:ext cx="5629942" cy="358069"/>
          </a:xfrm>
          <a:prstGeom prst="rect">
            <a:avLst/>
          </a:prstGeom>
          <a:noFill/>
          <a:ln>
            <a:noFill/>
          </a:ln>
        </p:spPr>
        <p:txBody>
          <a:bodyPr anchorCtr="0" anchor="t" bIns="25400" lIns="25400" spcFirstLastPara="1" rIns="25400" wrap="square" tIns="25400">
            <a:normAutofit/>
          </a:bodyPr>
          <a:lstStyle/>
          <a:p>
            <a:pPr indent="0" lvl="0" marL="0" marR="0" rtl="0" algn="l">
              <a:lnSpc>
                <a:spcPct val="121716"/>
              </a:lnSpc>
              <a:spcBef>
                <a:spcPts val="0"/>
              </a:spcBef>
              <a:spcAft>
                <a:spcPts val="0"/>
              </a:spcAft>
              <a:buClr>
                <a:srgbClr val="B5B5B5"/>
              </a:buClr>
              <a:buSzPts val="1800"/>
              <a:buFont typeface="Arial"/>
              <a:buNone/>
            </a:pPr>
            <a:r>
              <a:rPr b="0" i="0" lang="en-US" sz="1800" u="none" cap="none" strike="noStrike">
                <a:solidFill>
                  <a:srgbClr val="B5B5B5"/>
                </a:solidFill>
                <a:latin typeface="Arial"/>
                <a:ea typeface="Arial"/>
                <a:cs typeface="Arial"/>
                <a:sym typeface="Arial"/>
              </a:rPr>
              <a:t>x402 payments settled to date</a:t>
            </a:r>
            <a:endParaRPr b="0" i="0" sz="1800" u="none" cap="none" strike="noStrike">
              <a:solidFill>
                <a:schemeClr val="dk1"/>
              </a:solidFill>
              <a:latin typeface="Calibri"/>
              <a:ea typeface="Calibri"/>
              <a:cs typeface="Calibri"/>
              <a:sym typeface="Calibri"/>
            </a:endParaRPr>
          </a:p>
        </p:txBody>
      </p:sp>
      <p:sp>
        <p:nvSpPr>
          <p:cNvPr id="35" name="Google Shape;35;p2"/>
          <p:cNvSpPr/>
          <p:nvPr/>
        </p:nvSpPr>
        <p:spPr>
          <a:xfrm>
            <a:off x="6584839" y="3561522"/>
            <a:ext cx="5629942" cy="533362"/>
          </a:xfrm>
          <a:prstGeom prst="rect">
            <a:avLst/>
          </a:prstGeom>
          <a:noFill/>
          <a:ln>
            <a:noFill/>
          </a:ln>
        </p:spPr>
        <p:txBody>
          <a:bodyPr anchorCtr="0" anchor="t" bIns="25400" lIns="25400" spcFirstLastPara="1" rIns="25400" wrap="square" tIns="25400">
            <a:normAutofit/>
          </a:bodyPr>
          <a:lstStyle/>
          <a:p>
            <a:pPr indent="0" lvl="0" marL="0" marR="0" rtl="0" algn="l">
              <a:lnSpc>
                <a:spcPct val="67047"/>
              </a:lnSpc>
              <a:spcBef>
                <a:spcPts val="0"/>
              </a:spcBef>
              <a:spcAft>
                <a:spcPts val="0"/>
              </a:spcAft>
              <a:buClr>
                <a:srgbClr val="FFFFFF"/>
              </a:buClr>
              <a:buSzPts val="3900"/>
              <a:buFont typeface="Space Mono"/>
              <a:buNone/>
            </a:pPr>
            <a:r>
              <a:rPr b="0" i="0" lang="en-US" sz="3900" u="none" cap="none" strike="noStrike">
                <a:solidFill>
                  <a:srgbClr val="FFFFFF"/>
                </a:solidFill>
                <a:latin typeface="Space Mono"/>
                <a:ea typeface="Space Mono"/>
                <a:cs typeface="Space Mono"/>
                <a:sym typeface="Space Mono"/>
              </a:rPr>
              <a:t>$41.1M</a:t>
            </a:r>
            <a:endParaRPr b="0" i="0" sz="3900" u="none" cap="none" strike="noStrike">
              <a:solidFill>
                <a:schemeClr val="dk1"/>
              </a:solidFill>
              <a:latin typeface="Calibri"/>
              <a:ea typeface="Calibri"/>
              <a:cs typeface="Calibri"/>
              <a:sym typeface="Calibri"/>
            </a:endParaRPr>
          </a:p>
        </p:txBody>
      </p:sp>
      <p:sp>
        <p:nvSpPr>
          <p:cNvPr id="36" name="Google Shape;36;p2"/>
          <p:cNvSpPr/>
          <p:nvPr/>
        </p:nvSpPr>
        <p:spPr>
          <a:xfrm>
            <a:off x="6584839" y="4132887"/>
            <a:ext cx="5629942" cy="358069"/>
          </a:xfrm>
          <a:prstGeom prst="rect">
            <a:avLst/>
          </a:prstGeom>
          <a:noFill/>
          <a:ln>
            <a:noFill/>
          </a:ln>
        </p:spPr>
        <p:txBody>
          <a:bodyPr anchorCtr="0" anchor="t" bIns="25400" lIns="25400" spcFirstLastPara="1" rIns="25400" wrap="square" tIns="25400">
            <a:normAutofit/>
          </a:bodyPr>
          <a:lstStyle/>
          <a:p>
            <a:pPr indent="0" lvl="0" marL="0" marR="0" rtl="0" algn="l">
              <a:lnSpc>
                <a:spcPct val="121716"/>
              </a:lnSpc>
              <a:spcBef>
                <a:spcPts val="0"/>
              </a:spcBef>
              <a:spcAft>
                <a:spcPts val="0"/>
              </a:spcAft>
              <a:buClr>
                <a:srgbClr val="B5B5B5"/>
              </a:buClr>
              <a:buSzPts val="1800"/>
              <a:buFont typeface="Arial"/>
              <a:buNone/>
            </a:pPr>
            <a:r>
              <a:rPr b="0" i="0" lang="en-US" sz="1800" u="none" cap="none" strike="noStrike">
                <a:solidFill>
                  <a:srgbClr val="B5B5B5"/>
                </a:solidFill>
                <a:latin typeface="Arial"/>
                <a:ea typeface="Arial"/>
                <a:cs typeface="Arial"/>
                <a:sym typeface="Arial"/>
              </a:rPr>
              <a:t>stablecoin volume moved across 7 chains</a:t>
            </a:r>
            <a:endParaRPr b="0" i="0" sz="1800" u="none" cap="none" strike="noStrike">
              <a:solidFill>
                <a:schemeClr val="dk1"/>
              </a:solidFill>
              <a:latin typeface="Calibri"/>
              <a:ea typeface="Calibri"/>
              <a:cs typeface="Calibri"/>
              <a:sym typeface="Calibri"/>
            </a:endParaRPr>
          </a:p>
        </p:txBody>
      </p:sp>
      <p:sp>
        <p:nvSpPr>
          <p:cNvPr id="37" name="Google Shape;37;p2"/>
          <p:cNvSpPr/>
          <p:nvPr/>
        </p:nvSpPr>
        <p:spPr>
          <a:xfrm>
            <a:off x="11931475" y="3561522"/>
            <a:ext cx="5629942" cy="533362"/>
          </a:xfrm>
          <a:prstGeom prst="rect">
            <a:avLst/>
          </a:prstGeom>
          <a:noFill/>
          <a:ln>
            <a:noFill/>
          </a:ln>
        </p:spPr>
        <p:txBody>
          <a:bodyPr anchorCtr="0" anchor="t" bIns="25400" lIns="25400" spcFirstLastPara="1" rIns="25400" wrap="square" tIns="25400">
            <a:normAutofit/>
          </a:bodyPr>
          <a:lstStyle/>
          <a:p>
            <a:pPr indent="0" lvl="0" marL="0" marR="0" rtl="0" algn="l">
              <a:lnSpc>
                <a:spcPct val="67047"/>
              </a:lnSpc>
              <a:spcBef>
                <a:spcPts val="0"/>
              </a:spcBef>
              <a:spcAft>
                <a:spcPts val="0"/>
              </a:spcAft>
              <a:buClr>
                <a:srgbClr val="FFFFFF"/>
              </a:buClr>
              <a:buSzPts val="3900"/>
              <a:buFont typeface="Space Mono"/>
              <a:buNone/>
            </a:pPr>
            <a:r>
              <a:rPr b="0" i="0" lang="en-US" sz="3900" u="none" cap="none" strike="noStrike">
                <a:solidFill>
                  <a:srgbClr val="FFFFFF"/>
                </a:solidFill>
                <a:latin typeface="Space Mono"/>
                <a:ea typeface="Space Mono"/>
                <a:cs typeface="Space Mono"/>
                <a:sym typeface="Space Mono"/>
              </a:rPr>
              <a:t>$0.26</a:t>
            </a:r>
            <a:endParaRPr b="0" i="0" sz="3900" u="none" cap="none" strike="noStrike">
              <a:solidFill>
                <a:schemeClr val="dk1"/>
              </a:solidFill>
              <a:latin typeface="Calibri"/>
              <a:ea typeface="Calibri"/>
              <a:cs typeface="Calibri"/>
              <a:sym typeface="Calibri"/>
            </a:endParaRPr>
          </a:p>
        </p:txBody>
      </p:sp>
      <p:sp>
        <p:nvSpPr>
          <p:cNvPr id="38" name="Google Shape;38;p2"/>
          <p:cNvSpPr/>
          <p:nvPr/>
        </p:nvSpPr>
        <p:spPr>
          <a:xfrm>
            <a:off x="11931475" y="4132887"/>
            <a:ext cx="5629942" cy="358069"/>
          </a:xfrm>
          <a:prstGeom prst="rect">
            <a:avLst/>
          </a:prstGeom>
          <a:noFill/>
          <a:ln>
            <a:noFill/>
          </a:ln>
        </p:spPr>
        <p:txBody>
          <a:bodyPr anchorCtr="0" anchor="t" bIns="25400" lIns="25400" spcFirstLastPara="1" rIns="25400" wrap="square" tIns="25400">
            <a:normAutofit/>
          </a:bodyPr>
          <a:lstStyle/>
          <a:p>
            <a:pPr indent="0" lvl="0" marL="0" marR="0" rtl="0" algn="l">
              <a:lnSpc>
                <a:spcPct val="121716"/>
              </a:lnSpc>
              <a:spcBef>
                <a:spcPts val="0"/>
              </a:spcBef>
              <a:spcAft>
                <a:spcPts val="0"/>
              </a:spcAft>
              <a:buClr>
                <a:srgbClr val="B5B5B5"/>
              </a:buClr>
              <a:buSzPts val="1800"/>
              <a:buFont typeface="Arial"/>
              <a:buNone/>
            </a:pPr>
            <a:r>
              <a:rPr b="0" i="0" lang="en-US" sz="1800" u="none" cap="none" strike="noStrike">
                <a:solidFill>
                  <a:srgbClr val="B5B5B5"/>
                </a:solidFill>
                <a:latin typeface="Arial"/>
                <a:ea typeface="Arial"/>
                <a:cs typeface="Arial"/>
                <a:sym typeface="Arial"/>
              </a:rPr>
              <a:t>average payment — a per-call meter, not a purchase</a:t>
            </a:r>
            <a:endParaRPr b="0" i="0" sz="1800" u="none" cap="none" strike="noStrike">
              <a:solidFill>
                <a:schemeClr val="dk1"/>
              </a:solidFill>
              <a:latin typeface="Calibri"/>
              <a:ea typeface="Calibri"/>
              <a:cs typeface="Calibri"/>
              <a:sym typeface="Calibri"/>
            </a:endParaRPr>
          </a:p>
        </p:txBody>
      </p:sp>
      <p:sp>
        <p:nvSpPr>
          <p:cNvPr id="39" name="Google Shape;39;p2"/>
          <p:cNvSpPr/>
          <p:nvPr/>
        </p:nvSpPr>
        <p:spPr>
          <a:xfrm>
            <a:off x="1238203" y="4878079"/>
            <a:ext cx="17392647"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425"/>
              <a:buFont typeface="Space Mono"/>
              <a:buNone/>
            </a:pPr>
            <a:r>
              <a:rPr b="0" i="0" lang="en-US" sz="1425" u="none" cap="none" strike="noStrike">
                <a:solidFill>
                  <a:srgbClr val="8F8F8F"/>
                </a:solidFill>
                <a:latin typeface="Space Mono"/>
                <a:ea typeface="Space Mono"/>
                <a:cs typeface="Space Mono"/>
                <a:sym typeface="Space Mono"/>
              </a:rPr>
              <a:t>cumulative, jul 2026 · agenteconomy.to · </a:t>
            </a:r>
            <a:r>
              <a:rPr b="0" i="0" lang="en-US" sz="1425" u="none" cap="none" strike="noStrike">
                <a:solidFill>
                  <a:srgbClr val="8686FF"/>
                </a:solidFill>
                <a:latin typeface="Space Mono"/>
                <a:ea typeface="Space Mono"/>
                <a:cs typeface="Space Mono"/>
                <a:sym typeface="Space Mono"/>
              </a:rPr>
              <a:t>every one of them public</a:t>
            </a:r>
            <a:endParaRPr b="0" i="0" sz="1425" u="none" cap="none" strike="noStrike">
              <a:solidFill>
                <a:schemeClr val="dk1"/>
              </a:solidFill>
              <a:latin typeface="Calibri"/>
              <a:ea typeface="Calibri"/>
              <a:cs typeface="Calibri"/>
              <a:sym typeface="Calibri"/>
            </a:endParaRPr>
          </a:p>
        </p:txBody>
      </p:sp>
      <p:sp>
        <p:nvSpPr>
          <p:cNvPr id="40" name="Google Shape;40;p2"/>
          <p:cNvSpPr/>
          <p:nvPr/>
        </p:nvSpPr>
        <p:spPr>
          <a:xfrm>
            <a:off x="1238203" y="5560079"/>
            <a:ext cx="3809984" cy="1266962"/>
          </a:xfrm>
          <a:prstGeom prst="roundRect">
            <a:avLst>
              <a:gd fmla="val 3007" name="adj"/>
            </a:avLst>
          </a:prstGeom>
          <a:solidFill>
            <a:srgbClr val="1313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1238203" y="6820781"/>
            <a:ext cx="3809984"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1238203" y="5560079"/>
            <a:ext cx="3809984" cy="18781"/>
          </a:xfrm>
          <a:prstGeom prst="rect">
            <a:avLst/>
          </a:prstGeom>
          <a:solidFill>
            <a:srgbClr val="0000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1238203" y="5560079"/>
            <a:ext cx="9525" cy="1266962"/>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041927" y="5560079"/>
            <a:ext cx="9525" cy="1266962"/>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1492046" y="5845517"/>
            <a:ext cx="3632529"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425"/>
              <a:buFont typeface="Space Mono"/>
              <a:buNone/>
            </a:pPr>
            <a:r>
              <a:rPr b="1" i="0" lang="en-US" sz="1425" u="none" cap="none" strike="noStrike">
                <a:solidFill>
                  <a:srgbClr val="8F8F8F"/>
                </a:solidFill>
                <a:latin typeface="Space Mono"/>
                <a:ea typeface="Space Mono"/>
                <a:cs typeface="Space Mono"/>
                <a:sym typeface="Space Mono"/>
              </a:rPr>
              <a:t>PAYER</a:t>
            </a:r>
            <a:endParaRPr b="0" i="0" sz="1425" u="none" cap="none" strike="noStrike">
              <a:solidFill>
                <a:schemeClr val="dk1"/>
              </a:solidFill>
              <a:latin typeface="Calibri"/>
              <a:ea typeface="Calibri"/>
              <a:cs typeface="Calibri"/>
              <a:sym typeface="Calibri"/>
            </a:endParaRPr>
          </a:p>
        </p:txBody>
      </p:sp>
      <p:sp>
        <p:nvSpPr>
          <p:cNvPr id="46" name="Google Shape;46;p2"/>
          <p:cNvSpPr/>
          <p:nvPr/>
        </p:nvSpPr>
        <p:spPr>
          <a:xfrm>
            <a:off x="1492046" y="6222710"/>
            <a:ext cx="3632529" cy="369514"/>
          </a:xfrm>
          <a:prstGeom prst="rect">
            <a:avLst/>
          </a:prstGeom>
          <a:noFill/>
          <a:ln>
            <a:noFill/>
          </a:ln>
        </p:spPr>
        <p:txBody>
          <a:bodyPr anchorCtr="0" anchor="t" bIns="25400" lIns="25400" spcFirstLastPara="1" rIns="25400" wrap="square" tIns="25400">
            <a:normAutofit/>
          </a:bodyPr>
          <a:lstStyle/>
          <a:p>
            <a:pPr indent="0" lvl="0" marL="0" marR="0" rtl="0" algn="l">
              <a:lnSpc>
                <a:spcPct val="126063"/>
              </a:lnSpc>
              <a:spcBef>
                <a:spcPts val="0"/>
              </a:spcBef>
              <a:spcAft>
                <a:spcPts val="0"/>
              </a:spcAft>
              <a:buClr>
                <a:srgbClr val="DCDCDC"/>
              </a:buClr>
              <a:buSzPts val="1800"/>
              <a:buFont typeface="Arial"/>
              <a:buNone/>
            </a:pPr>
            <a:r>
              <a:rPr b="0" i="0" lang="en-US" sz="1800" u="none" cap="none" strike="noStrike">
                <a:solidFill>
                  <a:srgbClr val="DCDCDC"/>
                </a:solidFill>
                <a:latin typeface="Arial"/>
                <a:ea typeface="Arial"/>
                <a:cs typeface="Arial"/>
                <a:sym typeface="Arial"/>
              </a:rPr>
              <a:t>Which wallet made the call</a:t>
            </a:r>
            <a:endParaRPr b="0" i="0" sz="1800" u="none" cap="none" strike="noStrike">
              <a:solidFill>
                <a:schemeClr val="dk1"/>
              </a:solidFill>
              <a:latin typeface="Calibri"/>
              <a:ea typeface="Calibri"/>
              <a:cs typeface="Calibri"/>
              <a:sym typeface="Calibri"/>
            </a:endParaRPr>
          </a:p>
        </p:txBody>
      </p:sp>
      <p:sp>
        <p:nvSpPr>
          <p:cNvPr id="47" name="Google Shape;47;p2"/>
          <p:cNvSpPr/>
          <p:nvPr/>
        </p:nvSpPr>
        <p:spPr>
          <a:xfrm>
            <a:off x="5238642" y="5560079"/>
            <a:ext cx="3810082" cy="1266962"/>
          </a:xfrm>
          <a:prstGeom prst="roundRect">
            <a:avLst>
              <a:gd fmla="val 3007" name="adj"/>
            </a:avLst>
          </a:prstGeom>
          <a:solidFill>
            <a:srgbClr val="1313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5238642" y="6820781"/>
            <a:ext cx="3810082"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5238642" y="5560079"/>
            <a:ext cx="3810082" cy="18781"/>
          </a:xfrm>
          <a:prstGeom prst="rect">
            <a:avLst/>
          </a:prstGeom>
          <a:solidFill>
            <a:srgbClr val="0000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5238642" y="5560079"/>
            <a:ext cx="9525" cy="1266962"/>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9042464" y="5560079"/>
            <a:ext cx="9525" cy="1266962"/>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5492485" y="5845517"/>
            <a:ext cx="3632637"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425"/>
              <a:buFont typeface="Space Mono"/>
              <a:buNone/>
            </a:pPr>
            <a:r>
              <a:rPr b="1" i="0" lang="en-US" sz="1425" u="none" cap="none" strike="noStrike">
                <a:solidFill>
                  <a:srgbClr val="8F8F8F"/>
                </a:solidFill>
                <a:latin typeface="Space Mono"/>
                <a:ea typeface="Space Mono"/>
                <a:cs typeface="Space Mono"/>
                <a:sym typeface="Space Mono"/>
              </a:rPr>
              <a:t>AMOUNT</a:t>
            </a:r>
            <a:endParaRPr b="0" i="0" sz="1425" u="none" cap="none" strike="noStrike">
              <a:solidFill>
                <a:schemeClr val="dk1"/>
              </a:solidFill>
              <a:latin typeface="Calibri"/>
              <a:ea typeface="Calibri"/>
              <a:cs typeface="Calibri"/>
              <a:sym typeface="Calibri"/>
            </a:endParaRPr>
          </a:p>
        </p:txBody>
      </p:sp>
      <p:sp>
        <p:nvSpPr>
          <p:cNvPr id="53" name="Google Shape;53;p2"/>
          <p:cNvSpPr/>
          <p:nvPr/>
        </p:nvSpPr>
        <p:spPr>
          <a:xfrm>
            <a:off x="5492485" y="6222710"/>
            <a:ext cx="3632637" cy="369514"/>
          </a:xfrm>
          <a:prstGeom prst="rect">
            <a:avLst/>
          </a:prstGeom>
          <a:noFill/>
          <a:ln>
            <a:noFill/>
          </a:ln>
        </p:spPr>
        <p:txBody>
          <a:bodyPr anchorCtr="0" anchor="t" bIns="25400" lIns="25400" spcFirstLastPara="1" rIns="25400" wrap="square" tIns="25400">
            <a:normAutofit/>
          </a:bodyPr>
          <a:lstStyle/>
          <a:p>
            <a:pPr indent="0" lvl="0" marL="0" marR="0" rtl="0" algn="l">
              <a:lnSpc>
                <a:spcPct val="126063"/>
              </a:lnSpc>
              <a:spcBef>
                <a:spcPts val="0"/>
              </a:spcBef>
              <a:spcAft>
                <a:spcPts val="0"/>
              </a:spcAft>
              <a:buClr>
                <a:srgbClr val="DCDCDC"/>
              </a:buClr>
              <a:buSzPts val="1800"/>
              <a:buFont typeface="Arial"/>
              <a:buNone/>
            </a:pPr>
            <a:r>
              <a:rPr b="0" i="0" lang="en-US" sz="1800" u="none" cap="none" strike="noStrike">
                <a:solidFill>
                  <a:srgbClr val="DCDCDC"/>
                </a:solidFill>
                <a:latin typeface="Arial"/>
                <a:ea typeface="Arial"/>
                <a:cs typeface="Arial"/>
                <a:sym typeface="Arial"/>
              </a:rPr>
              <a:t>Exactly what each call cost</a:t>
            </a:r>
            <a:endParaRPr b="0" i="0" sz="1800" u="none" cap="none" strike="noStrike">
              <a:solidFill>
                <a:schemeClr val="dk1"/>
              </a:solidFill>
              <a:latin typeface="Calibri"/>
              <a:ea typeface="Calibri"/>
              <a:cs typeface="Calibri"/>
              <a:sym typeface="Calibri"/>
            </a:endParaRPr>
          </a:p>
        </p:txBody>
      </p:sp>
      <p:sp>
        <p:nvSpPr>
          <p:cNvPr id="54" name="Google Shape;54;p2"/>
          <p:cNvSpPr/>
          <p:nvPr/>
        </p:nvSpPr>
        <p:spPr>
          <a:xfrm>
            <a:off x="9239180" y="5560079"/>
            <a:ext cx="3809984" cy="1266962"/>
          </a:xfrm>
          <a:prstGeom prst="roundRect">
            <a:avLst>
              <a:gd fmla="val 3007" name="adj"/>
            </a:avLst>
          </a:prstGeom>
          <a:solidFill>
            <a:srgbClr val="1313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9239180" y="6820781"/>
            <a:ext cx="3809984"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9239180" y="5560079"/>
            <a:ext cx="3809984" cy="18781"/>
          </a:xfrm>
          <a:prstGeom prst="rect">
            <a:avLst/>
          </a:prstGeom>
          <a:solidFill>
            <a:srgbClr val="0000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9239180" y="5560079"/>
            <a:ext cx="9525" cy="1266962"/>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13042903" y="5560079"/>
            <a:ext cx="9525" cy="1266962"/>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9493022" y="5845517"/>
            <a:ext cx="3632529"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425"/>
              <a:buFont typeface="Space Mono"/>
              <a:buNone/>
            </a:pPr>
            <a:r>
              <a:rPr b="1" i="0" lang="en-US" sz="1425" u="none" cap="none" strike="noStrike">
                <a:solidFill>
                  <a:srgbClr val="8F8F8F"/>
                </a:solidFill>
                <a:latin typeface="Space Mono"/>
                <a:ea typeface="Space Mono"/>
                <a:cs typeface="Space Mono"/>
                <a:sym typeface="Space Mono"/>
              </a:rPr>
              <a:t>COUNTERPARTY</a:t>
            </a:r>
            <a:endParaRPr b="0" i="0" sz="1425" u="none" cap="none" strike="noStrike">
              <a:solidFill>
                <a:schemeClr val="dk1"/>
              </a:solidFill>
              <a:latin typeface="Calibri"/>
              <a:ea typeface="Calibri"/>
              <a:cs typeface="Calibri"/>
              <a:sym typeface="Calibri"/>
            </a:endParaRPr>
          </a:p>
        </p:txBody>
      </p:sp>
      <p:sp>
        <p:nvSpPr>
          <p:cNvPr id="60" name="Google Shape;60;p2"/>
          <p:cNvSpPr/>
          <p:nvPr/>
        </p:nvSpPr>
        <p:spPr>
          <a:xfrm>
            <a:off x="9493022" y="6222710"/>
            <a:ext cx="3632529" cy="369514"/>
          </a:xfrm>
          <a:prstGeom prst="rect">
            <a:avLst/>
          </a:prstGeom>
          <a:noFill/>
          <a:ln>
            <a:noFill/>
          </a:ln>
        </p:spPr>
        <p:txBody>
          <a:bodyPr anchorCtr="0" anchor="t" bIns="25400" lIns="25400" spcFirstLastPara="1" rIns="25400" wrap="square" tIns="25400">
            <a:normAutofit/>
          </a:bodyPr>
          <a:lstStyle/>
          <a:p>
            <a:pPr indent="0" lvl="0" marL="0" marR="0" rtl="0" algn="l">
              <a:lnSpc>
                <a:spcPct val="126063"/>
              </a:lnSpc>
              <a:spcBef>
                <a:spcPts val="0"/>
              </a:spcBef>
              <a:spcAft>
                <a:spcPts val="0"/>
              </a:spcAft>
              <a:buClr>
                <a:srgbClr val="DCDCDC"/>
              </a:buClr>
              <a:buSzPts val="1800"/>
              <a:buFont typeface="Arial"/>
              <a:buNone/>
            </a:pPr>
            <a:r>
              <a:rPr b="0" i="0" lang="en-US" sz="1800" u="none" cap="none" strike="noStrike">
                <a:solidFill>
                  <a:srgbClr val="DCDCDC"/>
                </a:solidFill>
                <a:latin typeface="Arial"/>
                <a:ea typeface="Arial"/>
                <a:cs typeface="Arial"/>
                <a:sym typeface="Arial"/>
              </a:rPr>
              <a:t>Which service was called</a:t>
            </a:r>
            <a:endParaRPr b="0" i="0" sz="1800" u="none" cap="none" strike="noStrike">
              <a:solidFill>
                <a:schemeClr val="dk1"/>
              </a:solidFill>
              <a:latin typeface="Calibri"/>
              <a:ea typeface="Calibri"/>
              <a:cs typeface="Calibri"/>
              <a:sym typeface="Calibri"/>
            </a:endParaRPr>
          </a:p>
        </p:txBody>
      </p:sp>
      <p:sp>
        <p:nvSpPr>
          <p:cNvPr id="61" name="Google Shape;61;p2"/>
          <p:cNvSpPr/>
          <p:nvPr/>
        </p:nvSpPr>
        <p:spPr>
          <a:xfrm>
            <a:off x="13239620" y="5560079"/>
            <a:ext cx="3810082" cy="1266962"/>
          </a:xfrm>
          <a:prstGeom prst="roundRect">
            <a:avLst>
              <a:gd fmla="val 3007" name="adj"/>
            </a:avLst>
          </a:prstGeom>
          <a:solidFill>
            <a:srgbClr val="1313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13239620" y="6820781"/>
            <a:ext cx="3810082"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13239620" y="5560079"/>
            <a:ext cx="3810082" cy="18781"/>
          </a:xfrm>
          <a:prstGeom prst="rect">
            <a:avLst/>
          </a:prstGeom>
          <a:solidFill>
            <a:srgbClr val="0000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13239620" y="5560079"/>
            <a:ext cx="9525" cy="1266962"/>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17043441" y="5560079"/>
            <a:ext cx="9525" cy="1266962"/>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13493461" y="5845517"/>
            <a:ext cx="3632637"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425"/>
              <a:buFont typeface="Space Mono"/>
              <a:buNone/>
            </a:pPr>
            <a:r>
              <a:rPr b="1" i="0" lang="en-US" sz="1425" u="none" cap="none" strike="noStrike">
                <a:solidFill>
                  <a:srgbClr val="8F8F8F"/>
                </a:solidFill>
                <a:latin typeface="Space Mono"/>
                <a:ea typeface="Space Mono"/>
                <a:cs typeface="Space Mono"/>
                <a:sym typeface="Space Mono"/>
              </a:rPr>
              <a:t>FREQUENCY</a:t>
            </a:r>
            <a:endParaRPr b="0" i="0" sz="1425" u="none" cap="none" strike="noStrike">
              <a:solidFill>
                <a:schemeClr val="dk1"/>
              </a:solidFill>
              <a:latin typeface="Calibri"/>
              <a:ea typeface="Calibri"/>
              <a:cs typeface="Calibri"/>
              <a:sym typeface="Calibri"/>
            </a:endParaRPr>
          </a:p>
        </p:txBody>
      </p:sp>
      <p:sp>
        <p:nvSpPr>
          <p:cNvPr id="67" name="Google Shape;67;p2"/>
          <p:cNvSpPr/>
          <p:nvPr/>
        </p:nvSpPr>
        <p:spPr>
          <a:xfrm>
            <a:off x="13493461" y="6222710"/>
            <a:ext cx="3632637" cy="369514"/>
          </a:xfrm>
          <a:prstGeom prst="rect">
            <a:avLst/>
          </a:prstGeom>
          <a:noFill/>
          <a:ln>
            <a:noFill/>
          </a:ln>
        </p:spPr>
        <p:txBody>
          <a:bodyPr anchorCtr="0" anchor="t" bIns="25400" lIns="25400" spcFirstLastPara="1" rIns="25400" wrap="square" tIns="25400">
            <a:normAutofit/>
          </a:bodyPr>
          <a:lstStyle/>
          <a:p>
            <a:pPr indent="0" lvl="0" marL="0" marR="0" rtl="0" algn="l">
              <a:lnSpc>
                <a:spcPct val="126063"/>
              </a:lnSpc>
              <a:spcBef>
                <a:spcPts val="0"/>
              </a:spcBef>
              <a:spcAft>
                <a:spcPts val="0"/>
              </a:spcAft>
              <a:buClr>
                <a:srgbClr val="DCDCDC"/>
              </a:buClr>
              <a:buSzPts val="1800"/>
              <a:buFont typeface="Arial"/>
              <a:buNone/>
            </a:pPr>
            <a:r>
              <a:rPr b="0" i="0" lang="en-US" sz="1800" u="none" cap="none" strike="noStrike">
                <a:solidFill>
                  <a:srgbClr val="DCDCDC"/>
                </a:solidFill>
                <a:latin typeface="Arial"/>
                <a:ea typeface="Arial"/>
                <a:cs typeface="Arial"/>
                <a:sym typeface="Arial"/>
              </a:rPr>
              <a:t>How often, and at what hour</a:t>
            </a:r>
            <a:endParaRPr b="0" i="0" sz="1800" u="none" cap="none" strike="noStrike">
              <a:solidFill>
                <a:schemeClr val="dk1"/>
              </a:solidFill>
              <a:latin typeface="Calibri"/>
              <a:ea typeface="Calibri"/>
              <a:cs typeface="Calibri"/>
              <a:sym typeface="Calibri"/>
            </a:endParaRPr>
          </a:p>
        </p:txBody>
      </p:sp>
      <p:sp>
        <p:nvSpPr>
          <p:cNvPr id="68" name="Google Shape;68;p2"/>
          <p:cNvSpPr/>
          <p:nvPr/>
        </p:nvSpPr>
        <p:spPr>
          <a:xfrm>
            <a:off x="1238203" y="7246101"/>
            <a:ext cx="12753897" cy="838071"/>
          </a:xfrm>
          <a:prstGeom prst="rect">
            <a:avLst/>
          </a:prstGeom>
          <a:noFill/>
          <a:ln>
            <a:noFill/>
          </a:ln>
        </p:spPr>
        <p:txBody>
          <a:bodyPr anchorCtr="0" anchor="t" bIns="25400" lIns="25400" spcFirstLastPara="1" rIns="25400" wrap="square" tIns="25400">
            <a:normAutofit/>
          </a:bodyPr>
          <a:lstStyle/>
          <a:p>
            <a:pPr indent="0" lvl="0" marL="0" marR="0" rtl="0" algn="l">
              <a:lnSpc>
                <a:spcPct val="130410"/>
              </a:lnSpc>
              <a:spcBef>
                <a:spcPts val="0"/>
              </a:spcBef>
              <a:spcAft>
                <a:spcPts val="0"/>
              </a:spcAft>
              <a:buClr>
                <a:srgbClr val="B5B5B5"/>
              </a:buClr>
              <a:buSzPts val="2100"/>
              <a:buFont typeface="Arial"/>
              <a:buNone/>
            </a:pPr>
            <a:r>
              <a:rPr b="0" i="0" lang="en-US" sz="2100" u="none" cap="none" strike="noStrike">
                <a:solidFill>
                  <a:srgbClr val="B5B5B5"/>
                </a:solidFill>
                <a:latin typeface="Arial"/>
                <a:ea typeface="Arial"/>
                <a:cs typeface="Arial"/>
                <a:sym typeface="Arial"/>
              </a:rPr>
              <a:t>Every x402 payment is signed by an address, so the calls link to each other. What comes out is a public, ordered record of what an agent does — which is its strategy.</a:t>
            </a:r>
            <a:endParaRPr b="0" i="0" sz="2100" u="none" cap="none" strike="noStrike">
              <a:solidFill>
                <a:schemeClr val="dk1"/>
              </a:solidFill>
              <a:latin typeface="Calibri"/>
              <a:ea typeface="Calibri"/>
              <a:cs typeface="Calibri"/>
              <a:sym typeface="Calibri"/>
            </a:endParaRPr>
          </a:p>
        </p:txBody>
      </p:sp>
      <p:sp>
        <p:nvSpPr>
          <p:cNvPr id="69" name="Google Shape;69;p2"/>
          <p:cNvSpPr/>
          <p:nvPr/>
        </p:nvSpPr>
        <p:spPr>
          <a:xfrm>
            <a:off x="1238203" y="895745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0" i="0" lang="en-US" sz="1500" u="none" cap="none" strike="noStrike">
                <a:solidFill>
                  <a:srgbClr val="8F8F8F"/>
                </a:solidFill>
                <a:latin typeface="Space Mono"/>
                <a:ea typeface="Space Mono"/>
                <a:cs typeface="Space Mono"/>
                <a:sym typeface="Space Mono"/>
              </a:rPr>
              <a:t>02 / 13</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74" name="Shape 74"/>
        <p:cNvGrpSpPr/>
        <p:nvPr/>
      </p:nvGrpSpPr>
      <p:grpSpPr>
        <a:xfrm>
          <a:off x="0" y="0"/>
          <a:ext cx="0" cy="0"/>
          <a:chOff x="0" y="0"/>
          <a:chExt cx="0" cy="0"/>
        </a:xfrm>
      </p:grpSpPr>
      <p:sp>
        <p:nvSpPr>
          <p:cNvPr id="75" name="Google Shape;75;p3"/>
          <p:cNvSpPr/>
          <p:nvPr/>
        </p:nvSpPr>
        <p:spPr>
          <a:xfrm>
            <a:off x="1238203" y="104774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1" i="0" lang="en-US" sz="1500" u="none" cap="none" strike="noStrike">
                <a:solidFill>
                  <a:srgbClr val="8F8F8F"/>
                </a:solidFill>
                <a:latin typeface="Space Mono"/>
                <a:ea typeface="Space Mono"/>
                <a:cs typeface="Space Mono"/>
                <a:sym typeface="Space Mono"/>
              </a:rPr>
              <a:t>STARTING POINT</a:t>
            </a:r>
            <a:endParaRPr b="0" i="0" sz="1500" u="none" cap="none" strike="noStrike">
              <a:solidFill>
                <a:schemeClr val="dk1"/>
              </a:solidFill>
              <a:latin typeface="Calibri"/>
              <a:ea typeface="Calibri"/>
              <a:cs typeface="Calibri"/>
              <a:sym typeface="Calibri"/>
            </a:endParaRPr>
          </a:p>
        </p:txBody>
      </p:sp>
      <p:sp>
        <p:nvSpPr>
          <p:cNvPr id="76" name="Google Shape;76;p3"/>
          <p:cNvSpPr/>
          <p:nvPr/>
        </p:nvSpPr>
        <p:spPr>
          <a:xfrm>
            <a:off x="1238203" y="2817015"/>
            <a:ext cx="14668492" cy="708655"/>
          </a:xfrm>
          <a:prstGeom prst="rect">
            <a:avLst/>
          </a:prstGeom>
          <a:noFill/>
          <a:ln>
            <a:noFill/>
          </a:ln>
        </p:spPr>
        <p:txBody>
          <a:bodyPr anchorCtr="0" anchor="t" bIns="25400" lIns="25400" spcFirstLastPara="1" rIns="25400" wrap="square" tIns="25400">
            <a:normAutofit/>
          </a:bodyPr>
          <a:lstStyle/>
          <a:p>
            <a:pPr indent="0" lvl="0" marL="0" marR="0" rtl="0" algn="l">
              <a:lnSpc>
                <a:spcPct val="95634"/>
              </a:lnSpc>
              <a:spcBef>
                <a:spcPts val="0"/>
              </a:spcBef>
              <a:spcAft>
                <a:spcPts val="0"/>
              </a:spcAft>
              <a:buClr>
                <a:srgbClr val="FFFFFF"/>
              </a:buClr>
              <a:buSzPts val="4800"/>
              <a:buFont typeface="Arial"/>
              <a:buNone/>
            </a:pPr>
            <a:r>
              <a:rPr b="0" i="0" lang="en-US" sz="4800" u="none" cap="none" strike="noStrike">
                <a:solidFill>
                  <a:srgbClr val="FFFFFF"/>
                </a:solidFill>
                <a:latin typeface="Arial"/>
                <a:ea typeface="Arial"/>
                <a:cs typeface="Arial"/>
                <a:sym typeface="Arial"/>
              </a:rPr>
              <a:t>x402 already solved the handshake. We kept it.</a:t>
            </a:r>
            <a:endParaRPr b="0" i="0" sz="4800" u="none" cap="none" strike="noStrike">
              <a:solidFill>
                <a:schemeClr val="dk1"/>
              </a:solidFill>
              <a:latin typeface="Calibri"/>
              <a:ea typeface="Calibri"/>
              <a:cs typeface="Calibri"/>
              <a:sym typeface="Calibri"/>
            </a:endParaRPr>
          </a:p>
        </p:txBody>
      </p:sp>
      <p:sp>
        <p:nvSpPr>
          <p:cNvPr id="77" name="Google Shape;77;p3"/>
          <p:cNvSpPr/>
          <p:nvPr/>
        </p:nvSpPr>
        <p:spPr>
          <a:xfrm>
            <a:off x="1238203" y="4020884"/>
            <a:ext cx="4909479" cy="2001296"/>
          </a:xfrm>
          <a:prstGeom prst="roundRect">
            <a:avLst>
              <a:gd fmla="val 1904" name="adj"/>
            </a:avLst>
          </a:prstGeom>
          <a:solidFill>
            <a:srgbClr val="131313"/>
          </a:solid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1568247" y="4389077"/>
            <a:ext cx="4674330" cy="43251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686FF"/>
              </a:buClr>
              <a:buSzPts val="2100"/>
              <a:buFont typeface="Space Mono"/>
              <a:buNone/>
            </a:pPr>
            <a:r>
              <a:rPr b="0" i="0" lang="en-US" sz="2100" u="none" cap="none" strike="noStrike">
                <a:solidFill>
                  <a:srgbClr val="8686FF"/>
                </a:solidFill>
                <a:latin typeface="Space Mono"/>
                <a:ea typeface="Space Mono"/>
                <a:cs typeface="Space Mono"/>
                <a:sym typeface="Space Mono"/>
              </a:rPr>
              <a:t>402</a:t>
            </a:r>
            <a:endParaRPr b="0" i="0" sz="2100" u="none" cap="none" strike="noStrike">
              <a:solidFill>
                <a:schemeClr val="dk1"/>
              </a:solidFill>
              <a:latin typeface="Calibri"/>
              <a:ea typeface="Calibri"/>
              <a:cs typeface="Calibri"/>
              <a:sym typeface="Calibri"/>
            </a:endParaRPr>
          </a:p>
        </p:txBody>
      </p:sp>
      <p:sp>
        <p:nvSpPr>
          <p:cNvPr id="79" name="Google Shape;79;p3"/>
          <p:cNvSpPr/>
          <p:nvPr/>
        </p:nvSpPr>
        <p:spPr>
          <a:xfrm>
            <a:off x="1568247" y="4935792"/>
            <a:ext cx="4376873" cy="756293"/>
          </a:xfrm>
          <a:prstGeom prst="rect">
            <a:avLst/>
          </a:prstGeom>
          <a:noFill/>
          <a:ln>
            <a:noFill/>
          </a:ln>
        </p:spPr>
        <p:txBody>
          <a:bodyPr anchorCtr="0" anchor="t" bIns="25400" lIns="25400" spcFirstLastPara="1" rIns="25400" wrap="square" tIns="25400">
            <a:normAutofit/>
          </a:bodyPr>
          <a:lstStyle/>
          <a:p>
            <a:pPr indent="0" lvl="0" marL="0" marR="0" rtl="0" algn="l">
              <a:lnSpc>
                <a:spcPct val="127464"/>
              </a:lnSpc>
              <a:spcBef>
                <a:spcPts val="0"/>
              </a:spcBef>
              <a:spcAft>
                <a:spcPts val="0"/>
              </a:spcAft>
              <a:buClr>
                <a:srgbClr val="DCDCDC"/>
              </a:buClr>
              <a:buSzPts val="1950"/>
              <a:buFont typeface="Arial"/>
              <a:buNone/>
            </a:pPr>
            <a:r>
              <a:rPr b="0" i="0" lang="en-US" sz="1950" u="none" cap="none" strike="noStrike">
                <a:solidFill>
                  <a:srgbClr val="DCDCDC"/>
                </a:solidFill>
                <a:latin typeface="Arial"/>
                <a:ea typeface="Arial"/>
                <a:cs typeface="Arial"/>
                <a:sym typeface="Arial"/>
              </a:rPr>
              <a:t>Merchant answers Payment Required with a price</a:t>
            </a:r>
            <a:endParaRPr b="0" i="0" sz="1950" u="none" cap="none" strike="noStrike">
              <a:solidFill>
                <a:schemeClr val="dk1"/>
              </a:solidFill>
              <a:latin typeface="Calibri"/>
              <a:ea typeface="Calibri"/>
              <a:cs typeface="Calibri"/>
              <a:sym typeface="Calibri"/>
            </a:endParaRPr>
          </a:p>
        </p:txBody>
      </p:sp>
      <p:sp>
        <p:nvSpPr>
          <p:cNvPr id="80" name="Google Shape;80;p3"/>
          <p:cNvSpPr/>
          <p:nvPr/>
        </p:nvSpPr>
        <p:spPr>
          <a:xfrm>
            <a:off x="6338138" y="4824278"/>
            <a:ext cx="236820" cy="43251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D4D4D"/>
              </a:buClr>
              <a:buSzPts val="2100"/>
              <a:buFont typeface="Space Mono"/>
              <a:buNone/>
            </a:pPr>
            <a:r>
              <a:rPr b="0" i="0" lang="en-US" sz="2100" u="none" cap="none" strike="noStrike">
                <a:solidFill>
                  <a:srgbClr val="4D4D4D"/>
                </a:solidFill>
                <a:latin typeface="Space Mono"/>
                <a:ea typeface="Space Mono"/>
                <a:cs typeface="Space Mono"/>
                <a:sym typeface="Space Mono"/>
              </a:rPr>
              <a:t>→</a:t>
            </a:r>
            <a:endParaRPr b="0" i="0" sz="2100" u="none" cap="none" strike="noStrike">
              <a:solidFill>
                <a:schemeClr val="dk1"/>
              </a:solidFill>
              <a:latin typeface="Calibri"/>
              <a:ea typeface="Calibri"/>
              <a:cs typeface="Calibri"/>
              <a:sym typeface="Calibri"/>
            </a:endParaRPr>
          </a:p>
        </p:txBody>
      </p:sp>
      <p:sp>
        <p:nvSpPr>
          <p:cNvPr id="81" name="Google Shape;81;p3"/>
          <p:cNvSpPr/>
          <p:nvPr/>
        </p:nvSpPr>
        <p:spPr>
          <a:xfrm>
            <a:off x="6689213" y="4020884"/>
            <a:ext cx="4909479" cy="2001296"/>
          </a:xfrm>
          <a:prstGeom prst="roundRect">
            <a:avLst>
              <a:gd fmla="val 1904" name="adj"/>
            </a:avLst>
          </a:prstGeom>
          <a:solidFill>
            <a:srgbClr val="131313"/>
          </a:solid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7019257" y="4389077"/>
            <a:ext cx="4674330" cy="43251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686FF"/>
              </a:buClr>
              <a:buSzPts val="2100"/>
              <a:buFont typeface="Space Mono"/>
              <a:buNone/>
            </a:pPr>
            <a:r>
              <a:rPr b="0" i="0" lang="en-US" sz="2100" u="none" cap="none" strike="noStrike">
                <a:solidFill>
                  <a:srgbClr val="8686FF"/>
                </a:solidFill>
                <a:latin typeface="Space Mono"/>
                <a:ea typeface="Space Mono"/>
                <a:cs typeface="Space Mono"/>
                <a:sym typeface="Space Mono"/>
              </a:rPr>
              <a:t>RETRY</a:t>
            </a:r>
            <a:endParaRPr b="0" i="0" sz="2100" u="none" cap="none" strike="noStrike">
              <a:solidFill>
                <a:schemeClr val="dk1"/>
              </a:solidFill>
              <a:latin typeface="Calibri"/>
              <a:ea typeface="Calibri"/>
              <a:cs typeface="Calibri"/>
              <a:sym typeface="Calibri"/>
            </a:endParaRPr>
          </a:p>
        </p:txBody>
      </p:sp>
      <p:sp>
        <p:nvSpPr>
          <p:cNvPr id="83" name="Google Shape;83;p3"/>
          <p:cNvSpPr/>
          <p:nvPr/>
        </p:nvSpPr>
        <p:spPr>
          <a:xfrm>
            <a:off x="7019257" y="4935792"/>
            <a:ext cx="4376873" cy="756293"/>
          </a:xfrm>
          <a:prstGeom prst="rect">
            <a:avLst/>
          </a:prstGeom>
          <a:noFill/>
          <a:ln>
            <a:noFill/>
          </a:ln>
        </p:spPr>
        <p:txBody>
          <a:bodyPr anchorCtr="0" anchor="t" bIns="25400" lIns="25400" spcFirstLastPara="1" rIns="25400" wrap="square" tIns="25400">
            <a:normAutofit/>
          </a:bodyPr>
          <a:lstStyle/>
          <a:p>
            <a:pPr indent="0" lvl="0" marL="0" marR="0" rtl="0" algn="l">
              <a:lnSpc>
                <a:spcPct val="127464"/>
              </a:lnSpc>
              <a:spcBef>
                <a:spcPts val="0"/>
              </a:spcBef>
              <a:spcAft>
                <a:spcPts val="0"/>
              </a:spcAft>
              <a:buClr>
                <a:srgbClr val="DCDCDC"/>
              </a:buClr>
              <a:buSzPts val="1950"/>
              <a:buFont typeface="Arial"/>
              <a:buNone/>
            </a:pPr>
            <a:r>
              <a:rPr b="0" i="0" lang="en-US" sz="1950" u="none" cap="none" strike="noStrike">
                <a:solidFill>
                  <a:srgbClr val="DCDCDC"/>
                </a:solidFill>
                <a:latin typeface="Arial"/>
                <a:ea typeface="Arial"/>
                <a:cs typeface="Arial"/>
                <a:sym typeface="Arial"/>
              </a:rPr>
              <a:t>Agent repeats the request carrying payment</a:t>
            </a:r>
            <a:endParaRPr b="0" i="0" sz="1950" u="none" cap="none" strike="noStrike">
              <a:solidFill>
                <a:schemeClr val="dk1"/>
              </a:solidFill>
              <a:latin typeface="Calibri"/>
              <a:ea typeface="Calibri"/>
              <a:cs typeface="Calibri"/>
              <a:sym typeface="Calibri"/>
            </a:endParaRPr>
          </a:p>
        </p:txBody>
      </p:sp>
      <p:sp>
        <p:nvSpPr>
          <p:cNvPr id="84" name="Google Shape;84;p3"/>
          <p:cNvSpPr/>
          <p:nvPr/>
        </p:nvSpPr>
        <p:spPr>
          <a:xfrm>
            <a:off x="11789147" y="4824278"/>
            <a:ext cx="236820" cy="43251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D4D4D"/>
              </a:buClr>
              <a:buSzPts val="2100"/>
              <a:buFont typeface="Space Mono"/>
              <a:buNone/>
            </a:pPr>
            <a:r>
              <a:rPr b="0" i="0" lang="en-US" sz="2100" u="none" cap="none" strike="noStrike">
                <a:solidFill>
                  <a:srgbClr val="4D4D4D"/>
                </a:solidFill>
                <a:latin typeface="Space Mono"/>
                <a:ea typeface="Space Mono"/>
                <a:cs typeface="Space Mono"/>
                <a:sym typeface="Space Mono"/>
              </a:rPr>
              <a:t>→</a:t>
            </a:r>
            <a:endParaRPr b="0" i="0" sz="2100" u="none" cap="none" strike="noStrike">
              <a:solidFill>
                <a:schemeClr val="dk1"/>
              </a:solidFill>
              <a:latin typeface="Calibri"/>
              <a:ea typeface="Calibri"/>
              <a:cs typeface="Calibri"/>
              <a:sym typeface="Calibri"/>
            </a:endParaRPr>
          </a:p>
        </p:txBody>
      </p:sp>
      <p:sp>
        <p:nvSpPr>
          <p:cNvPr id="85" name="Google Shape;85;p3"/>
          <p:cNvSpPr/>
          <p:nvPr/>
        </p:nvSpPr>
        <p:spPr>
          <a:xfrm>
            <a:off x="12140222" y="4020884"/>
            <a:ext cx="4909479" cy="2001296"/>
          </a:xfrm>
          <a:prstGeom prst="roundRect">
            <a:avLst>
              <a:gd fmla="val 1904" name="adj"/>
            </a:avLst>
          </a:prstGeom>
          <a:solidFill>
            <a:srgbClr val="131313"/>
          </a:solid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12470267" y="4389077"/>
            <a:ext cx="4674330" cy="43251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686FF"/>
              </a:buClr>
              <a:buSzPts val="2100"/>
              <a:buFont typeface="Space Mono"/>
              <a:buNone/>
            </a:pPr>
            <a:r>
              <a:rPr b="0" i="0" lang="en-US" sz="2100" u="none" cap="none" strike="noStrike">
                <a:solidFill>
                  <a:srgbClr val="8686FF"/>
                </a:solidFill>
                <a:latin typeface="Space Mono"/>
                <a:ea typeface="Space Mono"/>
                <a:cs typeface="Space Mono"/>
                <a:sym typeface="Space Mono"/>
              </a:rPr>
              <a:t>200</a:t>
            </a:r>
            <a:endParaRPr b="0" i="0" sz="2100" u="none" cap="none" strike="noStrike">
              <a:solidFill>
                <a:schemeClr val="dk1"/>
              </a:solidFill>
              <a:latin typeface="Calibri"/>
              <a:ea typeface="Calibri"/>
              <a:cs typeface="Calibri"/>
              <a:sym typeface="Calibri"/>
            </a:endParaRPr>
          </a:p>
        </p:txBody>
      </p:sp>
      <p:sp>
        <p:nvSpPr>
          <p:cNvPr id="87" name="Google Shape;87;p3"/>
          <p:cNvSpPr/>
          <p:nvPr/>
        </p:nvSpPr>
        <p:spPr>
          <a:xfrm>
            <a:off x="12470267" y="4935792"/>
            <a:ext cx="4674330" cy="397197"/>
          </a:xfrm>
          <a:prstGeom prst="rect">
            <a:avLst/>
          </a:prstGeom>
          <a:noFill/>
          <a:ln>
            <a:noFill/>
          </a:ln>
        </p:spPr>
        <p:txBody>
          <a:bodyPr anchorCtr="0" anchor="t" bIns="25400" lIns="25400" spcFirstLastPara="1" rIns="25400" wrap="square" tIns="25400">
            <a:normAutofit/>
          </a:bodyPr>
          <a:lstStyle/>
          <a:p>
            <a:pPr indent="0" lvl="0" marL="0" marR="0" rtl="0" algn="l">
              <a:lnSpc>
                <a:spcPct val="127464"/>
              </a:lnSpc>
              <a:spcBef>
                <a:spcPts val="0"/>
              </a:spcBef>
              <a:spcAft>
                <a:spcPts val="0"/>
              </a:spcAft>
              <a:buClr>
                <a:srgbClr val="DCDCDC"/>
              </a:buClr>
              <a:buSzPts val="1950"/>
              <a:buFont typeface="Arial"/>
              <a:buNone/>
            </a:pPr>
            <a:r>
              <a:rPr b="0" i="0" lang="en-US" sz="1950" u="none" cap="none" strike="noStrike">
                <a:solidFill>
                  <a:srgbClr val="DCDCDC"/>
                </a:solidFill>
                <a:latin typeface="Arial"/>
                <a:ea typeface="Arial"/>
                <a:cs typeface="Arial"/>
                <a:sym typeface="Arial"/>
              </a:rPr>
              <a:t>Merchant serves the response</a:t>
            </a:r>
            <a:endParaRPr b="0" i="0" sz="1950" u="none" cap="none" strike="noStrike">
              <a:solidFill>
                <a:schemeClr val="dk1"/>
              </a:solidFill>
              <a:latin typeface="Calibri"/>
              <a:ea typeface="Calibri"/>
              <a:cs typeface="Calibri"/>
              <a:sym typeface="Calibri"/>
            </a:endParaRPr>
          </a:p>
        </p:txBody>
      </p:sp>
      <p:sp>
        <p:nvSpPr>
          <p:cNvPr id="88" name="Google Shape;88;p3"/>
          <p:cNvSpPr/>
          <p:nvPr/>
        </p:nvSpPr>
        <p:spPr>
          <a:xfrm>
            <a:off x="1238203" y="6555493"/>
            <a:ext cx="13735043" cy="952520"/>
          </a:xfrm>
          <a:prstGeom prst="rect">
            <a:avLst/>
          </a:prstGeom>
          <a:noFill/>
          <a:ln>
            <a:noFill/>
          </a:ln>
        </p:spPr>
        <p:txBody>
          <a:bodyPr anchorCtr="0" anchor="t" bIns="25400" lIns="25400" spcFirstLastPara="1" rIns="25400" wrap="square" tIns="25400">
            <a:normAutofit/>
          </a:bodyPr>
          <a:lstStyle/>
          <a:p>
            <a:pPr indent="0" lvl="0" marL="0" marR="0" rtl="0" algn="l">
              <a:lnSpc>
                <a:spcPct val="130410"/>
              </a:lnSpc>
              <a:spcBef>
                <a:spcPts val="0"/>
              </a:spcBef>
              <a:spcAft>
                <a:spcPts val="0"/>
              </a:spcAft>
              <a:buClr>
                <a:srgbClr val="DCDCDC"/>
              </a:buClr>
              <a:buSzPts val="2400"/>
              <a:buFont typeface="Arial"/>
              <a:buNone/>
            </a:pPr>
            <a:r>
              <a:rPr b="0" i="0" lang="en-US" sz="2400" u="none" cap="none" strike="noStrike">
                <a:solidFill>
                  <a:srgbClr val="DCDCDC"/>
                </a:solidFill>
                <a:latin typeface="Arial"/>
                <a:ea typeface="Arial"/>
                <a:cs typeface="Arial"/>
                <a:sym typeface="Arial"/>
              </a:rPr>
              <a:t>m402 changes nothing about that exchange. The client sees the same status codes and the same header. What changes is what settles on-chain underneath it.</a:t>
            </a:r>
            <a:endParaRPr b="0" i="0" sz="2400" u="none" cap="none" strike="noStrike">
              <a:solidFill>
                <a:schemeClr val="dk1"/>
              </a:solidFill>
              <a:latin typeface="Calibri"/>
              <a:ea typeface="Calibri"/>
              <a:cs typeface="Calibri"/>
              <a:sym typeface="Calibri"/>
            </a:endParaRPr>
          </a:p>
        </p:txBody>
      </p:sp>
      <p:sp>
        <p:nvSpPr>
          <p:cNvPr id="89" name="Google Shape;89;p3"/>
          <p:cNvSpPr/>
          <p:nvPr/>
        </p:nvSpPr>
        <p:spPr>
          <a:xfrm>
            <a:off x="1238203" y="895745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0" i="0" lang="en-US" sz="1500" u="none" cap="none" strike="noStrike">
                <a:solidFill>
                  <a:srgbClr val="8F8F8F"/>
                </a:solidFill>
                <a:latin typeface="Space Mono"/>
                <a:ea typeface="Space Mono"/>
                <a:cs typeface="Space Mono"/>
                <a:sym typeface="Space Mono"/>
              </a:rPr>
              <a:t>03 / 13</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94" name="Shape 94"/>
        <p:cNvGrpSpPr/>
        <p:nvPr/>
      </p:nvGrpSpPr>
      <p:grpSpPr>
        <a:xfrm>
          <a:off x="0" y="0"/>
          <a:ext cx="0" cy="0"/>
          <a:chOff x="0" y="0"/>
          <a:chExt cx="0" cy="0"/>
        </a:xfrm>
      </p:grpSpPr>
      <p:sp>
        <p:nvSpPr>
          <p:cNvPr id="95" name="Google Shape;95;p4"/>
          <p:cNvSpPr/>
          <p:nvPr/>
        </p:nvSpPr>
        <p:spPr>
          <a:xfrm>
            <a:off x="1238203" y="104774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1" i="0" lang="en-US" sz="1500" u="none" cap="none" strike="noStrike">
                <a:solidFill>
                  <a:srgbClr val="8F8F8F"/>
                </a:solidFill>
                <a:latin typeface="Space Mono"/>
                <a:ea typeface="Space Mono"/>
                <a:cs typeface="Space Mono"/>
                <a:sym typeface="Space Mono"/>
              </a:rPr>
              <a:t>WHAT IS PROVED</a:t>
            </a:r>
            <a:endParaRPr b="0" i="0" sz="1500" u="none" cap="none" strike="noStrike">
              <a:solidFill>
                <a:schemeClr val="dk1"/>
              </a:solidFill>
              <a:latin typeface="Calibri"/>
              <a:ea typeface="Calibri"/>
              <a:cs typeface="Calibri"/>
              <a:sym typeface="Calibri"/>
            </a:endParaRPr>
          </a:p>
        </p:txBody>
      </p:sp>
      <p:sp>
        <p:nvSpPr>
          <p:cNvPr id="96" name="Google Shape;96;p4"/>
          <p:cNvSpPr/>
          <p:nvPr/>
        </p:nvSpPr>
        <p:spPr>
          <a:xfrm>
            <a:off x="1238203" y="2044336"/>
            <a:ext cx="14716089" cy="1462944"/>
          </a:xfrm>
          <a:prstGeom prst="rect">
            <a:avLst/>
          </a:prstGeom>
          <a:noFill/>
          <a:ln>
            <a:noFill/>
          </a:ln>
        </p:spPr>
        <p:txBody>
          <a:bodyPr anchorCtr="0" anchor="t" bIns="25400" lIns="25400" spcFirstLastPara="1" rIns="25400" wrap="square" tIns="25400">
            <a:normAutofit/>
          </a:bodyPr>
          <a:lstStyle/>
          <a:p>
            <a:pPr indent="0" lvl="0" marL="0" marR="0" rtl="0" algn="l">
              <a:lnSpc>
                <a:spcPct val="95634"/>
              </a:lnSpc>
              <a:spcBef>
                <a:spcPts val="0"/>
              </a:spcBef>
              <a:spcAft>
                <a:spcPts val="0"/>
              </a:spcAft>
              <a:buClr>
                <a:srgbClr val="FFFFFF"/>
              </a:buClr>
              <a:buSzPts val="5100"/>
              <a:buFont typeface="Arial"/>
              <a:buNone/>
            </a:pPr>
            <a:r>
              <a:rPr b="0" i="0" lang="en-US" sz="5100" u="none" cap="none" strike="noStrike">
                <a:solidFill>
                  <a:srgbClr val="FFFFFF"/>
                </a:solidFill>
                <a:latin typeface="Arial"/>
                <a:ea typeface="Arial"/>
                <a:cs typeface="Arial"/>
                <a:sym typeface="Arial"/>
              </a:rPr>
              <a:t>The agent proves one sentence: </a:t>
            </a:r>
            <a:r>
              <a:rPr b="0" i="0" lang="en-US" sz="5100" u="none" cap="none" strike="noStrike">
                <a:solidFill>
                  <a:srgbClr val="00E6A0"/>
                </a:solidFill>
                <a:latin typeface="Arial"/>
                <a:ea typeface="Arial"/>
                <a:cs typeface="Arial"/>
                <a:sym typeface="Arial"/>
              </a:rPr>
              <a:t>someone holding a valid credit paid this price.</a:t>
            </a:r>
            <a:endParaRPr b="0" i="0" sz="5100" u="none" cap="none" strike="noStrike">
              <a:solidFill>
                <a:schemeClr val="dk1"/>
              </a:solidFill>
              <a:latin typeface="Calibri"/>
              <a:ea typeface="Calibri"/>
              <a:cs typeface="Calibri"/>
              <a:sym typeface="Calibri"/>
            </a:endParaRPr>
          </a:p>
        </p:txBody>
      </p:sp>
      <p:sp>
        <p:nvSpPr>
          <p:cNvPr id="97" name="Google Shape;97;p4"/>
          <p:cNvSpPr/>
          <p:nvPr/>
        </p:nvSpPr>
        <p:spPr>
          <a:xfrm>
            <a:off x="1238203" y="4002493"/>
            <a:ext cx="5118129" cy="2849687"/>
          </a:xfrm>
          <a:prstGeom prst="roundRect">
            <a:avLst>
              <a:gd fmla="val 1337" name="adj"/>
            </a:avLst>
          </a:prstGeom>
          <a:solidFill>
            <a:srgbClr val="1313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1238203" y="6845920"/>
            <a:ext cx="5118129"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1238203" y="4002493"/>
            <a:ext cx="5118129" cy="18781"/>
          </a:xfrm>
          <a:prstGeom prst="rect">
            <a:avLst/>
          </a:prstGeom>
          <a:solidFill>
            <a:srgbClr val="00E6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1238203" y="4002493"/>
            <a:ext cx="9525" cy="2849687"/>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6350072" y="4002493"/>
            <a:ext cx="9525" cy="2849687"/>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1568247" y="4402185"/>
            <a:ext cx="4903844"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E6A0"/>
              </a:buClr>
              <a:buSzPts val="1425"/>
              <a:buFont typeface="Space Mono"/>
              <a:buNone/>
            </a:pPr>
            <a:r>
              <a:rPr b="1" i="0" lang="en-US" sz="1425" u="none" cap="none" strike="noStrike">
                <a:solidFill>
                  <a:srgbClr val="00E6A0"/>
                </a:solidFill>
                <a:latin typeface="Space Mono"/>
                <a:ea typeface="Space Mono"/>
                <a:cs typeface="Space Mono"/>
                <a:sym typeface="Space Mono"/>
              </a:rPr>
              <a:t>PRIVATE</a:t>
            </a:r>
            <a:endParaRPr b="0" i="0" sz="1425" u="none" cap="none" strike="noStrike">
              <a:solidFill>
                <a:schemeClr val="dk1"/>
              </a:solidFill>
              <a:latin typeface="Calibri"/>
              <a:ea typeface="Calibri"/>
              <a:cs typeface="Calibri"/>
              <a:sym typeface="Calibri"/>
            </a:endParaRPr>
          </a:p>
        </p:txBody>
      </p:sp>
      <p:sp>
        <p:nvSpPr>
          <p:cNvPr id="103" name="Google Shape;103;p4"/>
          <p:cNvSpPr/>
          <p:nvPr/>
        </p:nvSpPr>
        <p:spPr>
          <a:xfrm>
            <a:off x="1568247" y="4836505"/>
            <a:ext cx="4903844" cy="423804"/>
          </a:xfrm>
          <a:prstGeom prst="rect">
            <a:avLst/>
          </a:prstGeom>
          <a:noFill/>
          <a:ln>
            <a:noFill/>
          </a:ln>
        </p:spPr>
        <p:txBody>
          <a:bodyPr anchorCtr="0" anchor="t" bIns="25400" lIns="25400" spcFirstLastPara="1" rIns="25400" wrap="square" tIns="25400">
            <a:normAutofit/>
          </a:bodyPr>
          <a:lstStyle/>
          <a:p>
            <a:pPr indent="0" lvl="0" marL="0" marR="0" rtl="0" algn="l">
              <a:lnSpc>
                <a:spcPct val="118498"/>
              </a:lnSpc>
              <a:spcBef>
                <a:spcPts val="0"/>
              </a:spcBef>
              <a:spcAft>
                <a:spcPts val="0"/>
              </a:spcAft>
              <a:buClr>
                <a:srgbClr val="FFFFFF"/>
              </a:buClr>
              <a:buSzPts val="2250"/>
              <a:buFont typeface="Arial"/>
              <a:buNone/>
            </a:pPr>
            <a:r>
              <a:rPr b="0" i="0" lang="en-US" sz="2250" u="none" cap="none" strike="noStrike">
                <a:solidFill>
                  <a:srgbClr val="FFFFFF"/>
                </a:solidFill>
                <a:latin typeface="Arial"/>
                <a:ea typeface="Arial"/>
                <a:cs typeface="Arial"/>
                <a:sym typeface="Arial"/>
              </a:rPr>
              <a:t>The payer</a:t>
            </a:r>
            <a:endParaRPr b="0" i="0" sz="2250" u="none" cap="none" strike="noStrike">
              <a:solidFill>
                <a:schemeClr val="dk1"/>
              </a:solidFill>
              <a:latin typeface="Calibri"/>
              <a:ea typeface="Calibri"/>
              <a:cs typeface="Calibri"/>
              <a:sym typeface="Calibri"/>
            </a:endParaRPr>
          </a:p>
        </p:txBody>
      </p:sp>
      <p:sp>
        <p:nvSpPr>
          <p:cNvPr id="104" name="Google Shape;104;p4"/>
          <p:cNvSpPr/>
          <p:nvPr/>
        </p:nvSpPr>
        <p:spPr>
          <a:xfrm>
            <a:off x="1568247" y="5393589"/>
            <a:ext cx="4591782" cy="1109521"/>
          </a:xfrm>
          <a:prstGeom prst="rect">
            <a:avLst/>
          </a:prstGeom>
          <a:noFill/>
          <a:ln>
            <a:noFill/>
          </a:ln>
        </p:spPr>
        <p:txBody>
          <a:bodyPr anchorCtr="0" anchor="t" bIns="25400" lIns="25400" spcFirstLastPara="1" rIns="25400" wrap="square" tIns="25400">
            <a:normAutofit/>
          </a:bodyPr>
          <a:lstStyle/>
          <a:p>
            <a:pPr indent="0" lvl="0" marL="0" marR="0" rtl="0" algn="l">
              <a:lnSpc>
                <a:spcPct val="132685"/>
              </a:lnSpc>
              <a:spcBef>
                <a:spcPts val="0"/>
              </a:spcBef>
              <a:spcAft>
                <a:spcPts val="0"/>
              </a:spcAft>
              <a:buClr>
                <a:srgbClr val="FFFFFF"/>
              </a:buClr>
              <a:buSzPts val="1875"/>
              <a:buFont typeface="Space Mono"/>
              <a:buNone/>
            </a:pPr>
            <a:r>
              <a:rPr b="0" i="0" lang="en-US" sz="1875" u="none" cap="none" strike="noStrike">
                <a:solidFill>
                  <a:srgbClr val="FFFFFF"/>
                </a:solidFill>
                <a:latin typeface="Space Mono"/>
                <a:ea typeface="Space Mono"/>
                <a:cs typeface="Space Mono"/>
                <a:sym typeface="Space Mono"/>
              </a:rPr>
              <a:t>pay </a:t>
            </a:r>
            <a:r>
              <a:rPr b="0" i="0" lang="en-US" sz="1875" u="none" cap="none" strike="noStrike">
                <a:solidFill>
                  <a:srgbClr val="B5B5B5"/>
                </a:solidFill>
                <a:latin typeface="Arial"/>
                <a:ea typeface="Arial"/>
                <a:cs typeface="Arial"/>
                <a:sym typeface="Arial"/>
              </a:rPr>
              <a:t>takes no payer argument and reads no caller identity. Two payments cannot be linked.</a:t>
            </a:r>
            <a:endParaRPr b="0" i="0" sz="1875" u="none" cap="none" strike="noStrike">
              <a:solidFill>
                <a:schemeClr val="dk1"/>
              </a:solidFill>
              <a:latin typeface="Calibri"/>
              <a:ea typeface="Calibri"/>
              <a:cs typeface="Calibri"/>
              <a:sym typeface="Calibri"/>
            </a:endParaRPr>
          </a:p>
        </p:txBody>
      </p:sp>
      <p:sp>
        <p:nvSpPr>
          <p:cNvPr id="105" name="Google Shape;105;p4"/>
          <p:cNvSpPr/>
          <p:nvPr/>
        </p:nvSpPr>
        <p:spPr>
          <a:xfrm>
            <a:off x="6584839" y="4002493"/>
            <a:ext cx="5118129" cy="2849687"/>
          </a:xfrm>
          <a:prstGeom prst="roundRect">
            <a:avLst>
              <a:gd fmla="val 1337" name="adj"/>
            </a:avLst>
          </a:prstGeom>
          <a:solidFill>
            <a:srgbClr val="1313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6584839" y="6845920"/>
            <a:ext cx="5118129"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6584839" y="4002493"/>
            <a:ext cx="5118129" cy="18781"/>
          </a:xfrm>
          <a:prstGeom prst="rect">
            <a:avLst/>
          </a:prstGeom>
          <a:solidFill>
            <a:srgbClr val="0000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6584839" y="4002493"/>
            <a:ext cx="9525" cy="2849687"/>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11696707" y="4002493"/>
            <a:ext cx="9525" cy="2849687"/>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6914883" y="4402185"/>
            <a:ext cx="4903844"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686FF"/>
              </a:buClr>
              <a:buSzPts val="1425"/>
              <a:buFont typeface="Space Mono"/>
              <a:buNone/>
            </a:pPr>
            <a:r>
              <a:rPr b="1" i="0" lang="en-US" sz="1425" u="none" cap="none" strike="noStrike">
                <a:solidFill>
                  <a:srgbClr val="8686FF"/>
                </a:solidFill>
                <a:latin typeface="Space Mono"/>
                <a:ea typeface="Space Mono"/>
                <a:cs typeface="Space Mono"/>
                <a:sym typeface="Space Mono"/>
              </a:rPr>
              <a:t>PUBLIC</a:t>
            </a:r>
            <a:endParaRPr b="0" i="0" sz="1425" u="none" cap="none" strike="noStrike">
              <a:solidFill>
                <a:schemeClr val="dk1"/>
              </a:solidFill>
              <a:latin typeface="Calibri"/>
              <a:ea typeface="Calibri"/>
              <a:cs typeface="Calibri"/>
              <a:sym typeface="Calibri"/>
            </a:endParaRPr>
          </a:p>
        </p:txBody>
      </p:sp>
      <p:sp>
        <p:nvSpPr>
          <p:cNvPr id="111" name="Google Shape;111;p4"/>
          <p:cNvSpPr/>
          <p:nvPr/>
        </p:nvSpPr>
        <p:spPr>
          <a:xfrm>
            <a:off x="6914883" y="4836505"/>
            <a:ext cx="4903844" cy="423804"/>
          </a:xfrm>
          <a:prstGeom prst="rect">
            <a:avLst/>
          </a:prstGeom>
          <a:noFill/>
          <a:ln>
            <a:noFill/>
          </a:ln>
        </p:spPr>
        <p:txBody>
          <a:bodyPr anchorCtr="0" anchor="t" bIns="25400" lIns="25400" spcFirstLastPara="1" rIns="25400" wrap="square" tIns="25400">
            <a:normAutofit/>
          </a:bodyPr>
          <a:lstStyle/>
          <a:p>
            <a:pPr indent="0" lvl="0" marL="0" marR="0" rtl="0" algn="l">
              <a:lnSpc>
                <a:spcPct val="118498"/>
              </a:lnSpc>
              <a:spcBef>
                <a:spcPts val="0"/>
              </a:spcBef>
              <a:spcAft>
                <a:spcPts val="0"/>
              </a:spcAft>
              <a:buClr>
                <a:srgbClr val="FFFFFF"/>
              </a:buClr>
              <a:buSzPts val="2250"/>
              <a:buFont typeface="Arial"/>
              <a:buNone/>
            </a:pPr>
            <a:r>
              <a:rPr b="0" i="0" lang="en-US" sz="2250" u="none" cap="none" strike="noStrike">
                <a:solidFill>
                  <a:srgbClr val="FFFFFF"/>
                </a:solidFill>
                <a:latin typeface="Arial"/>
                <a:ea typeface="Arial"/>
                <a:cs typeface="Arial"/>
                <a:sym typeface="Arial"/>
              </a:rPr>
              <a:t>The price and the merchant</a:t>
            </a:r>
            <a:endParaRPr b="0" i="0" sz="2250" u="none" cap="none" strike="noStrike">
              <a:solidFill>
                <a:schemeClr val="dk1"/>
              </a:solidFill>
              <a:latin typeface="Calibri"/>
              <a:ea typeface="Calibri"/>
              <a:cs typeface="Calibri"/>
              <a:sym typeface="Calibri"/>
            </a:endParaRPr>
          </a:p>
        </p:txBody>
      </p:sp>
      <p:sp>
        <p:nvSpPr>
          <p:cNvPr id="112" name="Google Shape;112;p4"/>
          <p:cNvSpPr/>
          <p:nvPr/>
        </p:nvSpPr>
        <p:spPr>
          <a:xfrm>
            <a:off x="6914883" y="5393589"/>
            <a:ext cx="4591782" cy="752380"/>
          </a:xfrm>
          <a:prstGeom prst="rect">
            <a:avLst/>
          </a:prstGeom>
          <a:noFill/>
          <a:ln>
            <a:noFill/>
          </a:ln>
        </p:spPr>
        <p:txBody>
          <a:bodyPr anchorCtr="0" anchor="t" bIns="25400" lIns="25400" spcFirstLastPara="1" rIns="25400" wrap="square" tIns="25400">
            <a:normAutofit/>
          </a:bodyPr>
          <a:lstStyle/>
          <a:p>
            <a:pPr indent="0" lvl="0" marL="0" marR="0" rtl="0" algn="l">
              <a:lnSpc>
                <a:spcPct val="132685"/>
              </a:lnSpc>
              <a:spcBef>
                <a:spcPts val="0"/>
              </a:spcBef>
              <a:spcAft>
                <a:spcPts val="0"/>
              </a:spcAft>
              <a:buClr>
                <a:srgbClr val="B5B5B5"/>
              </a:buClr>
              <a:buSzPts val="1875"/>
              <a:buFont typeface="Arial"/>
              <a:buNone/>
            </a:pPr>
            <a:r>
              <a:rPr b="0" i="0" lang="en-US" sz="1875" u="none" cap="none" strike="noStrike">
                <a:solidFill>
                  <a:srgbClr val="B5B5B5"/>
                </a:solidFill>
                <a:latin typeface="Arial"/>
                <a:ea typeface="Arial"/>
                <a:cs typeface="Arial"/>
                <a:sym typeface="Arial"/>
              </a:rPr>
              <a:t>Registered on-chain, listed in the explorer. A marketplace needs a price list.</a:t>
            </a:r>
            <a:endParaRPr b="0" i="0" sz="1875" u="none" cap="none" strike="noStrike">
              <a:solidFill>
                <a:schemeClr val="dk1"/>
              </a:solidFill>
              <a:latin typeface="Calibri"/>
              <a:ea typeface="Calibri"/>
              <a:cs typeface="Calibri"/>
              <a:sym typeface="Calibri"/>
            </a:endParaRPr>
          </a:p>
        </p:txBody>
      </p:sp>
      <p:sp>
        <p:nvSpPr>
          <p:cNvPr id="113" name="Google Shape;113;p4"/>
          <p:cNvSpPr/>
          <p:nvPr/>
        </p:nvSpPr>
        <p:spPr>
          <a:xfrm>
            <a:off x="11931475" y="4002493"/>
            <a:ext cx="5118129" cy="2849687"/>
          </a:xfrm>
          <a:prstGeom prst="roundRect">
            <a:avLst>
              <a:gd fmla="val 1337" name="adj"/>
            </a:avLst>
          </a:prstGeom>
          <a:solidFill>
            <a:srgbClr val="1313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11931475" y="6845920"/>
            <a:ext cx="5118129"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11931475" y="4002493"/>
            <a:ext cx="5118129" cy="18781"/>
          </a:xfrm>
          <a:prstGeom prst="rect">
            <a:avLst/>
          </a:prstGeom>
          <a:solidFill>
            <a:srgbClr val="0000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11931475" y="4002493"/>
            <a:ext cx="9525" cy="2849687"/>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17043344" y="4002493"/>
            <a:ext cx="9525" cy="2849687"/>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12261519" y="4402185"/>
            <a:ext cx="4903844"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686FF"/>
              </a:buClr>
              <a:buSzPts val="1425"/>
              <a:buFont typeface="Space Mono"/>
              <a:buNone/>
            </a:pPr>
            <a:r>
              <a:rPr b="1" i="0" lang="en-US" sz="1425" u="none" cap="none" strike="noStrike">
                <a:solidFill>
                  <a:srgbClr val="8686FF"/>
                </a:solidFill>
                <a:latin typeface="Space Mono"/>
                <a:ea typeface="Space Mono"/>
                <a:cs typeface="Space Mono"/>
                <a:sym typeface="Space Mono"/>
              </a:rPr>
              <a:t>PUBLIC</a:t>
            </a:r>
            <a:endParaRPr b="0" i="0" sz="1425" u="none" cap="none" strike="noStrike">
              <a:solidFill>
                <a:schemeClr val="dk1"/>
              </a:solidFill>
              <a:latin typeface="Calibri"/>
              <a:ea typeface="Calibri"/>
              <a:cs typeface="Calibri"/>
              <a:sym typeface="Calibri"/>
            </a:endParaRPr>
          </a:p>
        </p:txBody>
      </p:sp>
      <p:sp>
        <p:nvSpPr>
          <p:cNvPr id="119" name="Google Shape;119;p4"/>
          <p:cNvSpPr/>
          <p:nvPr/>
        </p:nvSpPr>
        <p:spPr>
          <a:xfrm>
            <a:off x="12261519" y="4836505"/>
            <a:ext cx="4903844" cy="423804"/>
          </a:xfrm>
          <a:prstGeom prst="rect">
            <a:avLst/>
          </a:prstGeom>
          <a:noFill/>
          <a:ln>
            <a:noFill/>
          </a:ln>
        </p:spPr>
        <p:txBody>
          <a:bodyPr anchorCtr="0" anchor="t" bIns="25400" lIns="25400" spcFirstLastPara="1" rIns="25400" wrap="square" tIns="25400">
            <a:normAutofit/>
          </a:bodyPr>
          <a:lstStyle/>
          <a:p>
            <a:pPr indent="0" lvl="0" marL="0" marR="0" rtl="0" algn="l">
              <a:lnSpc>
                <a:spcPct val="118498"/>
              </a:lnSpc>
              <a:spcBef>
                <a:spcPts val="0"/>
              </a:spcBef>
              <a:spcAft>
                <a:spcPts val="0"/>
              </a:spcAft>
              <a:buClr>
                <a:srgbClr val="FFFFFF"/>
              </a:buClr>
              <a:buSzPts val="2250"/>
              <a:buFont typeface="Arial"/>
              <a:buNone/>
            </a:pPr>
            <a:r>
              <a:rPr b="0" i="0" lang="en-US" sz="2250" u="none" cap="none" strike="noStrike">
                <a:solidFill>
                  <a:srgbClr val="FFFFFF"/>
                </a:solidFill>
                <a:latin typeface="Arial"/>
                <a:ea typeface="Arial"/>
                <a:cs typeface="Arial"/>
                <a:sym typeface="Arial"/>
              </a:rPr>
              <a:t>That someone paid</a:t>
            </a:r>
            <a:endParaRPr b="0" i="0" sz="2250" u="none" cap="none" strike="noStrike">
              <a:solidFill>
                <a:schemeClr val="dk1"/>
              </a:solidFill>
              <a:latin typeface="Calibri"/>
              <a:ea typeface="Calibri"/>
              <a:cs typeface="Calibri"/>
              <a:sym typeface="Calibri"/>
            </a:endParaRPr>
          </a:p>
        </p:txBody>
      </p:sp>
      <p:sp>
        <p:nvSpPr>
          <p:cNvPr id="120" name="Google Shape;120;p4"/>
          <p:cNvSpPr/>
          <p:nvPr/>
        </p:nvSpPr>
        <p:spPr>
          <a:xfrm>
            <a:off x="12261519" y="5393589"/>
            <a:ext cx="4591782" cy="752380"/>
          </a:xfrm>
          <a:prstGeom prst="rect">
            <a:avLst/>
          </a:prstGeom>
          <a:noFill/>
          <a:ln>
            <a:noFill/>
          </a:ln>
        </p:spPr>
        <p:txBody>
          <a:bodyPr anchorCtr="0" anchor="t" bIns="25400" lIns="25400" spcFirstLastPara="1" rIns="25400" wrap="square" tIns="25400">
            <a:normAutofit/>
          </a:bodyPr>
          <a:lstStyle/>
          <a:p>
            <a:pPr indent="0" lvl="0" marL="0" marR="0" rtl="0" algn="l">
              <a:lnSpc>
                <a:spcPct val="132685"/>
              </a:lnSpc>
              <a:spcBef>
                <a:spcPts val="0"/>
              </a:spcBef>
              <a:spcAft>
                <a:spcPts val="0"/>
              </a:spcAft>
              <a:buClr>
                <a:srgbClr val="B5B5B5"/>
              </a:buClr>
              <a:buSzPts val="1875"/>
              <a:buFont typeface="Arial"/>
              <a:buNone/>
            </a:pPr>
            <a:r>
              <a:rPr b="0" i="0" lang="en-US" sz="1875" u="none" cap="none" strike="noStrike">
                <a:solidFill>
                  <a:srgbClr val="B5B5B5"/>
                </a:solidFill>
                <a:latin typeface="Arial"/>
                <a:ea typeface="Arial"/>
                <a:cs typeface="Arial"/>
                <a:sym typeface="Arial"/>
              </a:rPr>
              <a:t>A receipt hash lands in the on-chain set. No address appears anywhere in it.</a:t>
            </a:r>
            <a:endParaRPr b="0" i="0" sz="1875" u="none" cap="none" strike="noStrike">
              <a:solidFill>
                <a:schemeClr val="dk1"/>
              </a:solidFill>
              <a:latin typeface="Calibri"/>
              <a:ea typeface="Calibri"/>
              <a:cs typeface="Calibri"/>
              <a:sym typeface="Calibri"/>
            </a:endParaRPr>
          </a:p>
        </p:txBody>
      </p:sp>
      <p:sp>
        <p:nvSpPr>
          <p:cNvPr id="121" name="Google Shape;121;p4"/>
          <p:cNvSpPr/>
          <p:nvPr/>
        </p:nvSpPr>
        <p:spPr>
          <a:xfrm>
            <a:off x="1238203" y="7385494"/>
            <a:ext cx="13735043" cy="895197"/>
          </a:xfrm>
          <a:prstGeom prst="rect">
            <a:avLst/>
          </a:prstGeom>
          <a:noFill/>
          <a:ln>
            <a:noFill/>
          </a:ln>
        </p:spPr>
        <p:txBody>
          <a:bodyPr anchorCtr="0" anchor="t" bIns="25400" lIns="25400" spcFirstLastPara="1" rIns="25400" wrap="square" tIns="25400">
            <a:normAutofit/>
          </a:bodyPr>
          <a:lstStyle/>
          <a:p>
            <a:pPr indent="0" lvl="0" marL="0" marR="0" rtl="0" algn="l">
              <a:lnSpc>
                <a:spcPct val="131664"/>
              </a:lnSpc>
              <a:spcBef>
                <a:spcPts val="0"/>
              </a:spcBef>
              <a:spcAft>
                <a:spcPts val="0"/>
              </a:spcAft>
              <a:buClr>
                <a:srgbClr val="B5B5B5"/>
              </a:buClr>
              <a:buSzPts val="2250"/>
              <a:buFont typeface="Arial"/>
              <a:buNone/>
            </a:pPr>
            <a:r>
              <a:rPr b="0" i="0" lang="en-US" sz="2250" u="none" cap="none" strike="noStrike">
                <a:solidFill>
                  <a:srgbClr val="B5B5B5"/>
                </a:solidFill>
                <a:latin typeface="Arial"/>
                <a:ea typeface="Arial"/>
                <a:cs typeface="Arial"/>
                <a:sym typeface="Arial"/>
              </a:rPr>
              <a:t>The amount is public, because it equals the published price. m402 hides who paid, not how much — and who paid is what x402 leaks.</a:t>
            </a:r>
            <a:endParaRPr b="0" i="0" sz="2250" u="none" cap="none" strike="noStrike">
              <a:solidFill>
                <a:schemeClr val="dk1"/>
              </a:solidFill>
              <a:latin typeface="Calibri"/>
              <a:ea typeface="Calibri"/>
              <a:cs typeface="Calibri"/>
              <a:sym typeface="Calibri"/>
            </a:endParaRPr>
          </a:p>
        </p:txBody>
      </p:sp>
      <p:sp>
        <p:nvSpPr>
          <p:cNvPr id="122" name="Google Shape;122;p4"/>
          <p:cNvSpPr/>
          <p:nvPr/>
        </p:nvSpPr>
        <p:spPr>
          <a:xfrm>
            <a:off x="1238203" y="895745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0" i="0" lang="en-US" sz="1500" u="none" cap="none" strike="noStrike">
                <a:solidFill>
                  <a:srgbClr val="8F8F8F"/>
                </a:solidFill>
                <a:latin typeface="Space Mono"/>
                <a:ea typeface="Space Mono"/>
                <a:cs typeface="Space Mono"/>
                <a:sym typeface="Space Mono"/>
              </a:rPr>
              <a:t>04 / 13</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27" name="Shape 127"/>
        <p:cNvGrpSpPr/>
        <p:nvPr/>
      </p:nvGrpSpPr>
      <p:grpSpPr>
        <a:xfrm>
          <a:off x="0" y="0"/>
          <a:ext cx="0" cy="0"/>
          <a:chOff x="0" y="0"/>
          <a:chExt cx="0" cy="0"/>
        </a:xfrm>
      </p:grpSpPr>
      <p:sp>
        <p:nvSpPr>
          <p:cNvPr id="128" name="Google Shape;128;p5"/>
          <p:cNvSpPr/>
          <p:nvPr/>
        </p:nvSpPr>
        <p:spPr>
          <a:xfrm>
            <a:off x="1238203" y="104774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1" i="0" lang="en-US" sz="1500" u="none" cap="none" strike="noStrike">
                <a:solidFill>
                  <a:srgbClr val="8F8F8F"/>
                </a:solidFill>
                <a:latin typeface="Space Mono"/>
                <a:ea typeface="Space Mono"/>
                <a:cs typeface="Space Mono"/>
                <a:sym typeface="Space Mono"/>
              </a:rPr>
              <a:t>WHAT WE RUN</a:t>
            </a:r>
            <a:endParaRPr b="0" i="0" sz="1500" u="none" cap="none" strike="noStrike">
              <a:solidFill>
                <a:schemeClr val="dk1"/>
              </a:solidFill>
              <a:latin typeface="Calibri"/>
              <a:ea typeface="Calibri"/>
              <a:cs typeface="Calibri"/>
              <a:sym typeface="Calibri"/>
            </a:endParaRPr>
          </a:p>
        </p:txBody>
      </p:sp>
      <p:sp>
        <p:nvSpPr>
          <p:cNvPr id="129" name="Google Shape;129;p5"/>
          <p:cNvSpPr/>
          <p:nvPr/>
        </p:nvSpPr>
        <p:spPr>
          <a:xfrm>
            <a:off x="1285890" y="2041867"/>
            <a:ext cx="15716100" cy="687600"/>
          </a:xfrm>
          <a:prstGeom prst="rect">
            <a:avLst/>
          </a:prstGeom>
          <a:noFill/>
          <a:ln>
            <a:noFill/>
          </a:ln>
        </p:spPr>
        <p:txBody>
          <a:bodyPr anchorCtr="0" anchor="t" bIns="25400" lIns="25400" spcFirstLastPara="1" rIns="25400" wrap="square" tIns="25400">
            <a:normAutofit/>
          </a:bodyPr>
          <a:lstStyle/>
          <a:p>
            <a:pPr indent="0" lvl="0" marL="0" marR="0" rtl="0" algn="l">
              <a:lnSpc>
                <a:spcPct val="96077"/>
              </a:lnSpc>
              <a:spcBef>
                <a:spcPts val="0"/>
              </a:spcBef>
              <a:spcAft>
                <a:spcPts val="0"/>
              </a:spcAft>
              <a:buClr>
                <a:srgbClr val="FFFFFF"/>
              </a:buClr>
              <a:buSzPts val="4650"/>
              <a:buFont typeface="Arial"/>
              <a:buNone/>
            </a:pPr>
            <a:r>
              <a:rPr b="0" i="0" lang="en-US" sz="4650" u="none" cap="none" strike="noStrike">
                <a:solidFill>
                  <a:srgbClr val="FFFFFF"/>
                </a:solidFill>
                <a:latin typeface="Arial"/>
                <a:ea typeface="Arial"/>
                <a:cs typeface="Arial"/>
                <a:sym typeface="Arial"/>
              </a:rPr>
              <a:t>A marketplace for paid services, and services of our own on it.</a:t>
            </a:r>
            <a:endParaRPr b="0" i="0" sz="4650" u="none" cap="none" strike="noStrike">
              <a:solidFill>
                <a:schemeClr val="dk1"/>
              </a:solidFill>
              <a:latin typeface="Calibri"/>
              <a:ea typeface="Calibri"/>
              <a:cs typeface="Calibri"/>
              <a:sym typeface="Calibri"/>
            </a:endParaRPr>
          </a:p>
        </p:txBody>
      </p:sp>
      <p:sp>
        <p:nvSpPr>
          <p:cNvPr id="130" name="Google Shape;130;p5"/>
          <p:cNvSpPr/>
          <p:nvPr/>
        </p:nvSpPr>
        <p:spPr>
          <a:xfrm>
            <a:off x="1238203" y="3566804"/>
            <a:ext cx="7791447" cy="2945844"/>
          </a:xfrm>
          <a:prstGeom prst="roundRect">
            <a:avLst>
              <a:gd fmla="val 1293" name="adj"/>
            </a:avLst>
          </a:prstGeom>
          <a:solidFill>
            <a:srgbClr val="1313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1238203" y="6506388"/>
            <a:ext cx="7791447"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1238203" y="3566804"/>
            <a:ext cx="7791447" cy="18781"/>
          </a:xfrm>
          <a:prstGeom prst="rect">
            <a:avLst/>
          </a:prstGeom>
          <a:solidFill>
            <a:srgbClr val="0000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1238203" y="3566804"/>
            <a:ext cx="9525" cy="2945844"/>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9023389" y="3566804"/>
            <a:ext cx="9525" cy="2945844"/>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1587322" y="3966496"/>
            <a:ext cx="7802530"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686FF"/>
              </a:buClr>
              <a:buSzPts val="1425"/>
              <a:buFont typeface="Space Mono"/>
              <a:buNone/>
            </a:pPr>
            <a:r>
              <a:rPr b="1" i="0" lang="en-US" sz="1425" u="none" cap="none" strike="noStrike">
                <a:solidFill>
                  <a:srgbClr val="8686FF"/>
                </a:solidFill>
                <a:latin typeface="Space Mono"/>
                <a:ea typeface="Space Mono"/>
                <a:cs typeface="Space Mono"/>
                <a:sym typeface="Space Mono"/>
              </a:rPr>
              <a:t>M402 MARKETPLACE</a:t>
            </a:r>
            <a:endParaRPr b="0" i="0" sz="1425" u="none" cap="none" strike="noStrike">
              <a:solidFill>
                <a:schemeClr val="dk1"/>
              </a:solidFill>
              <a:latin typeface="Calibri"/>
              <a:ea typeface="Calibri"/>
              <a:cs typeface="Calibri"/>
              <a:sym typeface="Calibri"/>
            </a:endParaRPr>
          </a:p>
        </p:txBody>
      </p:sp>
      <p:sp>
        <p:nvSpPr>
          <p:cNvPr id="136" name="Google Shape;136;p5"/>
          <p:cNvSpPr/>
          <p:nvPr/>
        </p:nvSpPr>
        <p:spPr>
          <a:xfrm>
            <a:off x="1587322" y="4400816"/>
            <a:ext cx="7802530" cy="434270"/>
          </a:xfrm>
          <a:prstGeom prst="rect">
            <a:avLst/>
          </a:prstGeom>
          <a:noFill/>
          <a:ln>
            <a:noFill/>
          </a:ln>
        </p:spPr>
        <p:txBody>
          <a:bodyPr anchorCtr="0" anchor="t" bIns="25400" lIns="25400" spcFirstLastPara="1" rIns="25400" wrap="square" tIns="25400">
            <a:normAutofit/>
          </a:bodyPr>
          <a:lstStyle/>
          <a:p>
            <a:pPr indent="0" lvl="0" marL="0" marR="0" rtl="0" algn="l">
              <a:lnSpc>
                <a:spcPct val="113022"/>
              </a:lnSpc>
              <a:spcBef>
                <a:spcPts val="0"/>
              </a:spcBef>
              <a:spcAft>
                <a:spcPts val="0"/>
              </a:spcAft>
              <a:buClr>
                <a:srgbClr val="FFFFFF"/>
              </a:buClr>
              <a:buSzPts val="2400"/>
              <a:buFont typeface="Arial"/>
              <a:buNone/>
            </a:pPr>
            <a:r>
              <a:rPr b="0" i="0" lang="en-US" sz="2400" u="none" cap="none" strike="noStrike">
                <a:solidFill>
                  <a:srgbClr val="FFFFFF"/>
                </a:solidFill>
                <a:latin typeface="Arial"/>
                <a:ea typeface="Arial"/>
                <a:cs typeface="Arial"/>
                <a:sym typeface="Arial"/>
              </a:rPr>
              <a:t>Merchants publish their own endpoints</a:t>
            </a:r>
            <a:endParaRPr b="0" i="0" sz="2400" u="none" cap="none" strike="noStrike">
              <a:solidFill>
                <a:schemeClr val="dk1"/>
              </a:solidFill>
              <a:latin typeface="Calibri"/>
              <a:ea typeface="Calibri"/>
              <a:cs typeface="Calibri"/>
              <a:sym typeface="Calibri"/>
            </a:endParaRPr>
          </a:p>
        </p:txBody>
      </p:sp>
      <p:sp>
        <p:nvSpPr>
          <p:cNvPr id="137" name="Google Shape;137;p5"/>
          <p:cNvSpPr/>
          <p:nvPr/>
        </p:nvSpPr>
        <p:spPr>
          <a:xfrm>
            <a:off x="1587322" y="4968367"/>
            <a:ext cx="7306005" cy="809507"/>
          </a:xfrm>
          <a:prstGeom prst="rect">
            <a:avLst/>
          </a:prstGeom>
          <a:noFill/>
          <a:ln>
            <a:noFill/>
          </a:ln>
        </p:spPr>
        <p:txBody>
          <a:bodyPr anchorCtr="0" anchor="t" bIns="25400" lIns="25400" spcFirstLastPara="1" rIns="25400" wrap="square" tIns="25400">
            <a:normAutofit/>
          </a:bodyPr>
          <a:lstStyle/>
          <a:p>
            <a:pPr indent="0" lvl="0" marL="0" marR="0" rtl="0" algn="l">
              <a:lnSpc>
                <a:spcPct val="131104"/>
              </a:lnSpc>
              <a:spcBef>
                <a:spcPts val="0"/>
              </a:spcBef>
              <a:spcAft>
                <a:spcPts val="0"/>
              </a:spcAft>
              <a:buClr>
                <a:srgbClr val="B5B5B5"/>
              </a:buClr>
              <a:buSzPts val="2025"/>
              <a:buFont typeface="Arial"/>
              <a:buNone/>
            </a:pPr>
            <a:r>
              <a:rPr b="0" i="0" lang="en-US" sz="2025" u="none" cap="none" strike="noStrike">
                <a:solidFill>
                  <a:srgbClr val="B5B5B5"/>
                </a:solidFill>
                <a:latin typeface="Arial"/>
                <a:ea typeface="Arial"/>
                <a:cs typeface="Arial"/>
                <a:sym typeface="Arial"/>
              </a:rPr>
              <a:t>Register a price, get paid per call, settle in mNight. 100% Midnight-native, private on the payment leg by default.</a:t>
            </a:r>
            <a:endParaRPr b="0" i="0" sz="2025" u="none" cap="none" strike="noStrike">
              <a:solidFill>
                <a:schemeClr val="dk1"/>
              </a:solidFill>
              <a:latin typeface="Calibri"/>
              <a:ea typeface="Calibri"/>
              <a:cs typeface="Calibri"/>
              <a:sym typeface="Calibri"/>
            </a:endParaRPr>
          </a:p>
        </p:txBody>
      </p:sp>
      <p:sp>
        <p:nvSpPr>
          <p:cNvPr id="138" name="Google Shape;138;p5"/>
          <p:cNvSpPr/>
          <p:nvPr/>
        </p:nvSpPr>
        <p:spPr>
          <a:xfrm>
            <a:off x="9258157" y="3566804"/>
            <a:ext cx="7791544" cy="2945844"/>
          </a:xfrm>
          <a:prstGeom prst="roundRect">
            <a:avLst>
              <a:gd fmla="val 1293" name="adj"/>
            </a:avLst>
          </a:prstGeom>
          <a:solidFill>
            <a:srgbClr val="1313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9258157" y="6506388"/>
            <a:ext cx="7791544"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9258157" y="3566804"/>
            <a:ext cx="7791544" cy="18781"/>
          </a:xfrm>
          <a:prstGeom prst="rect">
            <a:avLst/>
          </a:prstGeom>
          <a:solidFill>
            <a:srgbClr val="00E6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9258157" y="3566804"/>
            <a:ext cx="9525" cy="2945844"/>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17043441" y="3566804"/>
            <a:ext cx="9525" cy="2945844"/>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9607276" y="3966496"/>
            <a:ext cx="7802637"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E6A0"/>
              </a:buClr>
              <a:buSzPts val="1425"/>
              <a:buFont typeface="Space Mono"/>
              <a:buNone/>
            </a:pPr>
            <a:r>
              <a:rPr b="1" i="0" lang="en-US" sz="1425" u="none" cap="none" strike="noStrike">
                <a:solidFill>
                  <a:srgbClr val="00E6A0"/>
                </a:solidFill>
                <a:latin typeface="Space Mono"/>
                <a:ea typeface="Space Mono"/>
                <a:cs typeface="Space Mono"/>
                <a:sym typeface="Space Mono"/>
              </a:rPr>
              <a:t>X402 BRIDGE</a:t>
            </a:r>
            <a:endParaRPr b="0" i="0" sz="1425" u="none" cap="none" strike="noStrike">
              <a:solidFill>
                <a:schemeClr val="dk1"/>
              </a:solidFill>
              <a:latin typeface="Calibri"/>
              <a:ea typeface="Calibri"/>
              <a:cs typeface="Calibri"/>
              <a:sym typeface="Calibri"/>
            </a:endParaRPr>
          </a:p>
        </p:txBody>
      </p:sp>
      <p:sp>
        <p:nvSpPr>
          <p:cNvPr id="144" name="Google Shape;144;p5"/>
          <p:cNvSpPr/>
          <p:nvPr/>
        </p:nvSpPr>
        <p:spPr>
          <a:xfrm>
            <a:off x="9607276" y="4400816"/>
            <a:ext cx="7802637" cy="434270"/>
          </a:xfrm>
          <a:prstGeom prst="rect">
            <a:avLst/>
          </a:prstGeom>
          <a:noFill/>
          <a:ln>
            <a:noFill/>
          </a:ln>
        </p:spPr>
        <p:txBody>
          <a:bodyPr anchorCtr="0" anchor="t" bIns="25400" lIns="25400" spcFirstLastPara="1" rIns="25400" wrap="square" tIns="25400">
            <a:normAutofit/>
          </a:bodyPr>
          <a:lstStyle/>
          <a:p>
            <a:pPr indent="0" lvl="0" marL="0" marR="0" rtl="0" algn="l">
              <a:lnSpc>
                <a:spcPct val="113022"/>
              </a:lnSpc>
              <a:spcBef>
                <a:spcPts val="0"/>
              </a:spcBef>
              <a:spcAft>
                <a:spcPts val="0"/>
              </a:spcAft>
              <a:buClr>
                <a:srgbClr val="FFFFFF"/>
              </a:buClr>
              <a:buSzPts val="2400"/>
              <a:buFont typeface="Arial"/>
              <a:buNone/>
            </a:pPr>
            <a:r>
              <a:rPr b="0" i="0" lang="en-US" sz="2400" u="none" cap="none" strike="noStrike">
                <a:solidFill>
                  <a:srgbClr val="FFFFFF"/>
                </a:solidFill>
                <a:latin typeface="Arial"/>
                <a:ea typeface="Arial"/>
                <a:cs typeface="Arial"/>
                <a:sym typeface="Arial"/>
              </a:rPr>
              <a:t>We publish x402 services too</a:t>
            </a:r>
            <a:endParaRPr b="0" i="0" sz="2400" u="none" cap="none" strike="noStrike">
              <a:solidFill>
                <a:schemeClr val="dk1"/>
              </a:solidFill>
              <a:latin typeface="Calibri"/>
              <a:ea typeface="Calibri"/>
              <a:cs typeface="Calibri"/>
              <a:sym typeface="Calibri"/>
            </a:endParaRPr>
          </a:p>
        </p:txBody>
      </p:sp>
      <p:sp>
        <p:nvSpPr>
          <p:cNvPr id="145" name="Google Shape;145;p5"/>
          <p:cNvSpPr/>
          <p:nvPr/>
        </p:nvSpPr>
        <p:spPr>
          <a:xfrm>
            <a:off x="9607276" y="4968367"/>
            <a:ext cx="7306106" cy="1195211"/>
          </a:xfrm>
          <a:prstGeom prst="rect">
            <a:avLst/>
          </a:prstGeom>
          <a:noFill/>
          <a:ln>
            <a:noFill/>
          </a:ln>
        </p:spPr>
        <p:txBody>
          <a:bodyPr anchorCtr="0" anchor="t" bIns="25400" lIns="25400" spcFirstLastPara="1" rIns="25400" wrap="square" tIns="25400">
            <a:normAutofit/>
          </a:bodyPr>
          <a:lstStyle/>
          <a:p>
            <a:pPr indent="0" lvl="0" marL="0" marR="0" rtl="0" algn="l">
              <a:lnSpc>
                <a:spcPct val="131104"/>
              </a:lnSpc>
              <a:spcBef>
                <a:spcPts val="0"/>
              </a:spcBef>
              <a:spcAft>
                <a:spcPts val="0"/>
              </a:spcAft>
              <a:buClr>
                <a:srgbClr val="B5B5B5"/>
              </a:buClr>
              <a:buSzPts val="2025"/>
              <a:buFont typeface="Arial"/>
              <a:buNone/>
            </a:pPr>
            <a:r>
              <a:rPr b="0" i="0" lang="en-US" sz="2025" u="none" cap="none" strike="noStrike">
                <a:solidFill>
                  <a:srgbClr val="B5B5B5"/>
                </a:solidFill>
                <a:latin typeface="Arial"/>
                <a:ea typeface="Arial"/>
                <a:cs typeface="Arial"/>
                <a:sym typeface="Arial"/>
              </a:rPr>
              <a:t>A USDC relayer pays the external service on its own chain and returns the resource. It is credited in the vault exactly like any other merchant, so the agent never leaves the private path.</a:t>
            </a:r>
            <a:endParaRPr b="0" i="0" sz="2025" u="none" cap="none" strike="noStrike">
              <a:solidFill>
                <a:schemeClr val="dk1"/>
              </a:solidFill>
              <a:latin typeface="Calibri"/>
              <a:ea typeface="Calibri"/>
              <a:cs typeface="Calibri"/>
              <a:sym typeface="Calibri"/>
            </a:endParaRPr>
          </a:p>
        </p:txBody>
      </p:sp>
      <p:sp>
        <p:nvSpPr>
          <p:cNvPr id="146" name="Google Shape;146;p5"/>
          <p:cNvSpPr/>
          <p:nvPr/>
        </p:nvSpPr>
        <p:spPr>
          <a:xfrm>
            <a:off x="1238203" y="7045962"/>
            <a:ext cx="14716089" cy="895197"/>
          </a:xfrm>
          <a:prstGeom prst="rect">
            <a:avLst/>
          </a:prstGeom>
          <a:noFill/>
          <a:ln>
            <a:noFill/>
          </a:ln>
        </p:spPr>
        <p:txBody>
          <a:bodyPr anchorCtr="0" anchor="t" bIns="25400" lIns="25400" spcFirstLastPara="1" rIns="25400" wrap="square" tIns="25400">
            <a:normAutofit/>
          </a:bodyPr>
          <a:lstStyle/>
          <a:p>
            <a:pPr indent="0" lvl="0" marL="0" marR="0" rtl="0" algn="l">
              <a:lnSpc>
                <a:spcPct val="131664"/>
              </a:lnSpc>
              <a:spcBef>
                <a:spcPts val="0"/>
              </a:spcBef>
              <a:spcAft>
                <a:spcPts val="0"/>
              </a:spcAft>
              <a:buClr>
                <a:srgbClr val="B5B5B5"/>
              </a:buClr>
              <a:buSzPts val="2250"/>
              <a:buFont typeface="Arial"/>
              <a:buNone/>
            </a:pPr>
            <a:r>
              <a:rPr b="0" i="0" lang="en-US" sz="2250" u="none" cap="none" strike="noStrike">
                <a:solidFill>
                  <a:srgbClr val="B5B5B5"/>
                </a:solidFill>
                <a:latin typeface="Arial"/>
                <a:ea typeface="Arial"/>
                <a:cs typeface="Arial"/>
                <a:sym typeface="Arial"/>
              </a:rPr>
              <a:t>We operate the relayer and its USDC float in this first step, and the relayable services are a curated list. The Midnight-native side needs no operator at all.</a:t>
            </a:r>
            <a:endParaRPr b="0" i="0" sz="2250" u="none" cap="none" strike="noStrike">
              <a:solidFill>
                <a:schemeClr val="dk1"/>
              </a:solidFill>
              <a:latin typeface="Calibri"/>
              <a:ea typeface="Calibri"/>
              <a:cs typeface="Calibri"/>
              <a:sym typeface="Calibri"/>
            </a:endParaRPr>
          </a:p>
        </p:txBody>
      </p:sp>
      <p:sp>
        <p:nvSpPr>
          <p:cNvPr id="147" name="Google Shape;147;p5"/>
          <p:cNvSpPr/>
          <p:nvPr/>
        </p:nvSpPr>
        <p:spPr>
          <a:xfrm>
            <a:off x="1238203" y="895745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0" i="0" lang="en-US" sz="1500" u="none" cap="none" strike="noStrike">
                <a:solidFill>
                  <a:srgbClr val="8F8F8F"/>
                </a:solidFill>
                <a:latin typeface="Space Mono"/>
                <a:ea typeface="Space Mono"/>
                <a:cs typeface="Space Mono"/>
                <a:sym typeface="Space Mono"/>
              </a:rPr>
              <a:t>05 / 13</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52" name="Shape 152"/>
        <p:cNvGrpSpPr/>
        <p:nvPr/>
      </p:nvGrpSpPr>
      <p:grpSpPr>
        <a:xfrm>
          <a:off x="0" y="0"/>
          <a:ext cx="0" cy="0"/>
          <a:chOff x="0" y="0"/>
          <a:chExt cx="0" cy="0"/>
        </a:xfrm>
      </p:grpSpPr>
      <p:sp>
        <p:nvSpPr>
          <p:cNvPr id="153" name="Google Shape;153;p6"/>
          <p:cNvSpPr/>
          <p:nvPr/>
        </p:nvSpPr>
        <p:spPr>
          <a:xfrm>
            <a:off x="1238203" y="914322"/>
            <a:ext cx="492439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1" i="0" lang="en-US" sz="1500" u="none" cap="none" strike="noStrike">
                <a:solidFill>
                  <a:srgbClr val="8F8F8F"/>
                </a:solidFill>
                <a:latin typeface="Space Mono"/>
                <a:ea typeface="Space Mono"/>
                <a:cs typeface="Space Mono"/>
                <a:sym typeface="Space Mono"/>
              </a:rPr>
              <a:t>THE MARKETPLACE</a:t>
            </a:r>
            <a:endParaRPr b="0" i="0" sz="1500" u="none" cap="none" strike="noStrike">
              <a:solidFill>
                <a:schemeClr val="dk1"/>
              </a:solidFill>
              <a:latin typeface="Calibri"/>
              <a:ea typeface="Calibri"/>
              <a:cs typeface="Calibri"/>
              <a:sym typeface="Calibri"/>
            </a:endParaRPr>
          </a:p>
        </p:txBody>
      </p:sp>
      <p:sp>
        <p:nvSpPr>
          <p:cNvPr id="154" name="Google Shape;154;p6"/>
          <p:cNvSpPr/>
          <p:nvPr/>
        </p:nvSpPr>
        <p:spPr>
          <a:xfrm>
            <a:off x="1238203" y="1443625"/>
            <a:ext cx="4611026" cy="2705157"/>
          </a:xfrm>
          <a:prstGeom prst="rect">
            <a:avLst/>
          </a:prstGeom>
          <a:noFill/>
          <a:ln>
            <a:noFill/>
          </a:ln>
        </p:spPr>
        <p:txBody>
          <a:bodyPr anchorCtr="0" anchor="t" bIns="25400" lIns="25400" spcFirstLastPara="1" rIns="25400" wrap="square" tIns="25400">
            <a:normAutofit/>
          </a:bodyPr>
          <a:lstStyle/>
          <a:p>
            <a:pPr indent="0" lvl="0" marL="0" marR="0" rtl="0" algn="l">
              <a:lnSpc>
                <a:spcPct val="97933"/>
              </a:lnSpc>
              <a:spcBef>
                <a:spcPts val="0"/>
              </a:spcBef>
              <a:spcAft>
                <a:spcPts val="0"/>
              </a:spcAft>
              <a:buClr>
                <a:srgbClr val="FFFFFF"/>
              </a:buClr>
              <a:buSzPts val="3750"/>
              <a:buFont typeface="Arial"/>
              <a:buNone/>
            </a:pPr>
            <a:r>
              <a:rPr b="0" i="0" lang="en-US" sz="3750" u="none" cap="none" strike="noStrike">
                <a:solidFill>
                  <a:srgbClr val="FFFFFF"/>
                </a:solidFill>
                <a:latin typeface="Arial"/>
                <a:ea typeface="Arial"/>
                <a:cs typeface="Arial"/>
                <a:sym typeface="Arial"/>
              </a:rPr>
              <a:t>Every listed service speaks x402. There is no payer column, because </a:t>
            </a:r>
            <a:r>
              <a:rPr b="0" i="0" lang="en-US" sz="3750" u="none" cap="none" strike="noStrike">
                <a:solidFill>
                  <a:srgbClr val="00E6A0"/>
                </a:solidFill>
                <a:latin typeface="Arial"/>
                <a:ea typeface="Arial"/>
                <a:cs typeface="Arial"/>
                <a:sym typeface="Arial"/>
              </a:rPr>
              <a:t>no payment carries one </a:t>
            </a:r>
            <a:r>
              <a:rPr b="0" i="0" lang="en-US" sz="3750" u="none" cap="none" strike="noStrike">
                <a:solidFill>
                  <a:srgbClr val="FFFFFF"/>
                </a:solidFill>
                <a:latin typeface="Arial"/>
                <a:ea typeface="Arial"/>
                <a:cs typeface="Arial"/>
                <a:sym typeface="Arial"/>
              </a:rPr>
              <a:t>.</a:t>
            </a:r>
            <a:endParaRPr b="0" i="0" sz="3750" u="none" cap="none" strike="noStrike">
              <a:solidFill>
                <a:schemeClr val="dk1"/>
              </a:solidFill>
              <a:latin typeface="Calibri"/>
              <a:ea typeface="Calibri"/>
              <a:cs typeface="Calibri"/>
              <a:sym typeface="Calibri"/>
            </a:endParaRPr>
          </a:p>
        </p:txBody>
      </p:sp>
      <p:sp>
        <p:nvSpPr>
          <p:cNvPr id="155" name="Google Shape;155;p6"/>
          <p:cNvSpPr/>
          <p:nvPr/>
        </p:nvSpPr>
        <p:spPr>
          <a:xfrm>
            <a:off x="1238203" y="4358264"/>
            <a:ext cx="4611026" cy="1152659"/>
          </a:xfrm>
          <a:prstGeom prst="rect">
            <a:avLst/>
          </a:prstGeom>
          <a:noFill/>
          <a:ln>
            <a:noFill/>
          </a:ln>
        </p:spPr>
        <p:txBody>
          <a:bodyPr anchorCtr="0" anchor="t" bIns="25400" lIns="25400" spcFirstLastPara="1" rIns="25400" wrap="square" tIns="25400">
            <a:normAutofit/>
          </a:bodyPr>
          <a:lstStyle/>
          <a:p>
            <a:pPr indent="0" lvl="0" marL="0" marR="0" rtl="0" algn="l">
              <a:lnSpc>
                <a:spcPct val="131859"/>
              </a:lnSpc>
              <a:spcBef>
                <a:spcPts val="0"/>
              </a:spcBef>
              <a:spcAft>
                <a:spcPts val="0"/>
              </a:spcAft>
              <a:buClr>
                <a:srgbClr val="B5B5B5"/>
              </a:buClr>
              <a:buSzPts val="1950"/>
              <a:buFont typeface="Arial"/>
              <a:buNone/>
            </a:pPr>
            <a:r>
              <a:rPr b="0" i="0" lang="en-US" sz="1950" u="none" cap="none" strike="noStrike">
                <a:solidFill>
                  <a:srgbClr val="B5B5B5"/>
                </a:solidFill>
                <a:latin typeface="Arial"/>
                <a:ea typeface="Arial"/>
                <a:cs typeface="Arial"/>
                <a:sym typeface="Arial"/>
              </a:rPr>
              <a:t>Prices and call volume are public — a marketplace needs a price list. Which agent bought what is not.</a:t>
            </a:r>
            <a:endParaRPr b="0" i="0" sz="1950" u="none" cap="none" strike="noStrike">
              <a:solidFill>
                <a:schemeClr val="dk1"/>
              </a:solidFill>
              <a:latin typeface="Calibri"/>
              <a:ea typeface="Calibri"/>
              <a:cs typeface="Calibri"/>
              <a:sym typeface="Calibri"/>
            </a:endParaRPr>
          </a:p>
        </p:txBody>
      </p:sp>
      <p:sp>
        <p:nvSpPr>
          <p:cNvPr id="156" name="Google Shape;156;p6"/>
          <p:cNvSpPr/>
          <p:nvPr/>
        </p:nvSpPr>
        <p:spPr>
          <a:xfrm>
            <a:off x="1238203" y="9205139"/>
            <a:ext cx="492439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0" i="0" lang="en-US" sz="1500" u="none" cap="none" strike="noStrike">
                <a:solidFill>
                  <a:srgbClr val="8F8F8F"/>
                </a:solidFill>
                <a:latin typeface="Space Mono"/>
                <a:ea typeface="Space Mono"/>
                <a:cs typeface="Space Mono"/>
                <a:sym typeface="Space Mono"/>
              </a:rPr>
              <a:t>06 / 13</a:t>
            </a:r>
            <a:endParaRPr b="0" i="0" sz="1500" u="none" cap="none" strike="noStrike">
              <a:solidFill>
                <a:schemeClr val="dk1"/>
              </a:solidFill>
              <a:latin typeface="Calibri"/>
              <a:ea typeface="Calibri"/>
              <a:cs typeface="Calibri"/>
              <a:sym typeface="Calibri"/>
            </a:endParaRPr>
          </a:p>
        </p:txBody>
      </p:sp>
      <p:sp>
        <p:nvSpPr>
          <p:cNvPr id="157" name="Google Shape;157;p6"/>
          <p:cNvSpPr/>
          <p:nvPr/>
        </p:nvSpPr>
        <p:spPr>
          <a:xfrm>
            <a:off x="6324442" y="2061650"/>
            <a:ext cx="10725258" cy="6277880"/>
          </a:xfrm>
          <a:prstGeom prst="roundRect">
            <a:avLst>
              <a:gd fmla="val 910" name="adj"/>
            </a:avLst>
          </a:prstGeom>
          <a:solidFill>
            <a:srgbClr val="0A0A0A"/>
          </a:solid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8" name="Google Shape;158;p6"/>
          <p:cNvPicPr preferRelativeResize="0"/>
          <p:nvPr/>
        </p:nvPicPr>
        <p:blipFill rotWithShape="1">
          <a:blip r:embed="rId3">
            <a:alphaModFix/>
          </a:blip>
          <a:srcRect b="0" l="0" r="0" t="0"/>
          <a:stretch/>
        </p:blipFill>
        <p:spPr>
          <a:xfrm>
            <a:off x="6330703" y="2067911"/>
            <a:ext cx="10712738" cy="626535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63" name="Shape 163"/>
        <p:cNvGrpSpPr/>
        <p:nvPr/>
      </p:nvGrpSpPr>
      <p:grpSpPr>
        <a:xfrm>
          <a:off x="0" y="0"/>
          <a:ext cx="0" cy="0"/>
          <a:chOff x="0" y="0"/>
          <a:chExt cx="0" cy="0"/>
        </a:xfrm>
      </p:grpSpPr>
      <p:sp>
        <p:nvSpPr>
          <p:cNvPr id="164" name="Google Shape;164;p7"/>
          <p:cNvSpPr/>
          <p:nvPr/>
        </p:nvSpPr>
        <p:spPr>
          <a:xfrm>
            <a:off x="1238203" y="104774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1" i="0" lang="en-US" sz="1500" u="none" cap="none" strike="noStrike">
                <a:solidFill>
                  <a:srgbClr val="8F8F8F"/>
                </a:solidFill>
                <a:latin typeface="Space Mono"/>
                <a:ea typeface="Space Mono"/>
                <a:cs typeface="Space Mono"/>
                <a:sym typeface="Space Mono"/>
              </a:rPr>
              <a:t>WHY MIDNIGHT</a:t>
            </a:r>
            <a:endParaRPr b="0" i="0" sz="1500" u="none" cap="none" strike="noStrike">
              <a:solidFill>
                <a:schemeClr val="dk1"/>
              </a:solidFill>
              <a:latin typeface="Calibri"/>
              <a:ea typeface="Calibri"/>
              <a:cs typeface="Calibri"/>
              <a:sym typeface="Calibri"/>
            </a:endParaRPr>
          </a:p>
        </p:txBody>
      </p:sp>
      <p:sp>
        <p:nvSpPr>
          <p:cNvPr id="165" name="Google Shape;165;p7"/>
          <p:cNvSpPr/>
          <p:nvPr/>
        </p:nvSpPr>
        <p:spPr>
          <a:xfrm>
            <a:off x="1238203" y="1329469"/>
            <a:ext cx="7939549" cy="1337147"/>
          </a:xfrm>
          <a:prstGeom prst="rect">
            <a:avLst/>
          </a:prstGeom>
          <a:noFill/>
          <a:ln>
            <a:noFill/>
          </a:ln>
        </p:spPr>
        <p:txBody>
          <a:bodyPr anchorCtr="0" anchor="t" bIns="25400" lIns="25400" spcFirstLastPara="1" rIns="25400" wrap="square" tIns="25400">
            <a:normAutofit/>
          </a:bodyPr>
          <a:lstStyle/>
          <a:p>
            <a:pPr indent="0" lvl="0" marL="0" marR="0" rtl="0" algn="l">
              <a:lnSpc>
                <a:spcPct val="96077"/>
              </a:lnSpc>
              <a:spcBef>
                <a:spcPts val="0"/>
              </a:spcBef>
              <a:spcAft>
                <a:spcPts val="0"/>
              </a:spcAft>
              <a:buClr>
                <a:srgbClr val="00E6A0"/>
              </a:buClr>
              <a:buSzPts val="4650"/>
              <a:buFont typeface="Arial"/>
              <a:buNone/>
            </a:pPr>
            <a:r>
              <a:rPr b="0" i="0" lang="en-US" sz="4650" u="none" cap="none" strike="noStrike">
                <a:solidFill>
                  <a:srgbClr val="00E6A0"/>
                </a:solidFill>
                <a:latin typeface="Arial"/>
                <a:ea typeface="Arial"/>
                <a:cs typeface="Arial"/>
                <a:sym typeface="Arial"/>
              </a:rPr>
              <a:t>Selective disclosure </a:t>
            </a:r>
            <a:r>
              <a:rPr b="0" i="0" lang="en-US" sz="4650" u="none" cap="none" strike="noStrike">
                <a:solidFill>
                  <a:srgbClr val="FFFFFF"/>
                </a:solidFill>
                <a:latin typeface="Arial"/>
                <a:ea typeface="Arial"/>
                <a:cs typeface="Arial"/>
                <a:sym typeface="Arial"/>
              </a:rPr>
              <a:t>is the ledger's own model, not a layer on top of it.</a:t>
            </a:r>
            <a:endParaRPr b="0" i="0" sz="4650" u="none" cap="none" strike="noStrike">
              <a:solidFill>
                <a:schemeClr val="dk1"/>
              </a:solidFill>
              <a:latin typeface="Calibri"/>
              <a:ea typeface="Calibri"/>
              <a:cs typeface="Calibri"/>
              <a:sym typeface="Calibri"/>
            </a:endParaRPr>
          </a:p>
        </p:txBody>
      </p:sp>
      <p:sp>
        <p:nvSpPr>
          <p:cNvPr id="166" name="Google Shape;166;p7"/>
          <p:cNvSpPr/>
          <p:nvPr/>
        </p:nvSpPr>
        <p:spPr>
          <a:xfrm>
            <a:off x="1238203" y="3786502"/>
            <a:ext cx="7939500" cy="1752300"/>
          </a:xfrm>
          <a:prstGeom prst="rect">
            <a:avLst/>
          </a:prstGeom>
          <a:noFill/>
          <a:ln>
            <a:noFill/>
          </a:ln>
        </p:spPr>
        <p:txBody>
          <a:bodyPr anchorCtr="0" anchor="t" bIns="25400" lIns="25400" spcFirstLastPara="1" rIns="25400" wrap="square" tIns="25400">
            <a:normAutofit/>
          </a:bodyPr>
          <a:lstStyle/>
          <a:p>
            <a:pPr indent="0" lvl="0" marL="0" marR="0" rtl="0" algn="l">
              <a:lnSpc>
                <a:spcPct val="131664"/>
              </a:lnSpc>
              <a:spcBef>
                <a:spcPts val="0"/>
              </a:spcBef>
              <a:spcAft>
                <a:spcPts val="0"/>
              </a:spcAft>
              <a:buClr>
                <a:srgbClr val="B5B5B5"/>
              </a:buClr>
              <a:buSzPts val="2250"/>
              <a:buFont typeface="Arial"/>
              <a:buNone/>
            </a:pPr>
            <a:r>
              <a:rPr b="0" i="0" lang="en-US" sz="2250" u="none" cap="none" strike="noStrike">
                <a:solidFill>
                  <a:srgbClr val="B5B5B5"/>
                </a:solidFill>
                <a:latin typeface="Arial"/>
                <a:ea typeface="Arial"/>
                <a:cs typeface="Arial"/>
                <a:sym typeface="Arial"/>
              </a:rPr>
              <a:t>On a transparent chain, hiding the payer means an off-chain operator standing between agent and merchant. On Midnight the proof does it, so nobody has to be trusted with the thing we are hiding.</a:t>
            </a:r>
            <a:endParaRPr b="0" i="0" sz="2250" u="none" cap="none" strike="noStrike">
              <a:solidFill>
                <a:schemeClr val="dk1"/>
              </a:solidFill>
              <a:latin typeface="Calibri"/>
              <a:ea typeface="Calibri"/>
              <a:cs typeface="Calibri"/>
              <a:sym typeface="Calibri"/>
            </a:endParaRPr>
          </a:p>
        </p:txBody>
      </p:sp>
      <p:sp>
        <p:nvSpPr>
          <p:cNvPr id="167" name="Google Shape;167;p7"/>
          <p:cNvSpPr/>
          <p:nvPr/>
        </p:nvSpPr>
        <p:spPr>
          <a:xfrm>
            <a:off x="1238203" y="5815106"/>
            <a:ext cx="7939500" cy="1752300"/>
          </a:xfrm>
          <a:prstGeom prst="rect">
            <a:avLst/>
          </a:prstGeom>
          <a:noFill/>
          <a:ln>
            <a:noFill/>
          </a:ln>
        </p:spPr>
        <p:txBody>
          <a:bodyPr anchorCtr="0" anchor="t" bIns="25400" lIns="25400" spcFirstLastPara="1" rIns="25400" wrap="square" tIns="25400">
            <a:normAutofit/>
          </a:bodyPr>
          <a:lstStyle/>
          <a:p>
            <a:pPr indent="0" lvl="0" marL="0" marR="0" rtl="0" algn="l">
              <a:lnSpc>
                <a:spcPct val="131664"/>
              </a:lnSpc>
              <a:spcBef>
                <a:spcPts val="0"/>
              </a:spcBef>
              <a:spcAft>
                <a:spcPts val="0"/>
              </a:spcAft>
              <a:buClr>
                <a:srgbClr val="B5B5B5"/>
              </a:buClr>
              <a:buSzPts val="2250"/>
              <a:buFont typeface="Arial"/>
              <a:buNone/>
            </a:pPr>
            <a:r>
              <a:rPr b="0" i="0" lang="en-US" sz="2250" u="none" cap="none" strike="noStrike">
                <a:solidFill>
                  <a:srgbClr val="B5B5B5"/>
                </a:solidFill>
                <a:latin typeface="Arial"/>
                <a:ea typeface="Arial"/>
                <a:cs typeface="Arial"/>
                <a:sym typeface="Arial"/>
              </a:rPr>
              <a:t>Selective means the agent decides. If a payment has to be shown — for tax, accounting or an audit — it hands over that payment's receipt secret; the auditor recomputes the hash against the public ledger. One payment, and only that one.</a:t>
            </a:r>
            <a:endParaRPr b="0" i="0" sz="2250" u="none" cap="none" strike="noStrike">
              <a:solidFill>
                <a:schemeClr val="dk1"/>
              </a:solidFill>
              <a:latin typeface="Calibri"/>
              <a:ea typeface="Calibri"/>
              <a:cs typeface="Calibri"/>
              <a:sym typeface="Calibri"/>
            </a:endParaRPr>
          </a:p>
        </p:txBody>
      </p:sp>
      <p:sp>
        <p:nvSpPr>
          <p:cNvPr id="168" name="Google Shape;168;p7"/>
          <p:cNvSpPr/>
          <p:nvPr/>
        </p:nvSpPr>
        <p:spPr>
          <a:xfrm>
            <a:off x="9708421" y="1329469"/>
            <a:ext cx="7341280" cy="2076421"/>
          </a:xfrm>
          <a:prstGeom prst="roundRect">
            <a:avLst>
              <a:gd fmla="val 1835" name="adj"/>
            </a:avLst>
          </a:prstGeom>
          <a:solidFill>
            <a:srgbClr val="131313"/>
          </a:solid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a:off x="10000414" y="1640438"/>
            <a:ext cx="7433025"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E6A0"/>
              </a:buClr>
              <a:buSzPts val="1425"/>
              <a:buFont typeface="Space Mono"/>
              <a:buNone/>
            </a:pPr>
            <a:r>
              <a:rPr b="1" i="0" lang="en-US" sz="1425" u="none" cap="none" strike="noStrike">
                <a:solidFill>
                  <a:srgbClr val="00E6A0"/>
                </a:solidFill>
                <a:latin typeface="Space Mono"/>
                <a:ea typeface="Space Mono"/>
                <a:cs typeface="Space Mono"/>
                <a:sym typeface="Space Mono"/>
              </a:rPr>
              <a:t>MNIGHT</a:t>
            </a:r>
            <a:endParaRPr b="0" i="0" sz="1425" u="none" cap="none" strike="noStrike">
              <a:solidFill>
                <a:schemeClr val="dk1"/>
              </a:solidFill>
              <a:latin typeface="Calibri"/>
              <a:ea typeface="Calibri"/>
              <a:cs typeface="Calibri"/>
              <a:sym typeface="Calibri"/>
            </a:endParaRPr>
          </a:p>
        </p:txBody>
      </p:sp>
      <p:sp>
        <p:nvSpPr>
          <p:cNvPr id="170" name="Google Shape;170;p7"/>
          <p:cNvSpPr/>
          <p:nvPr/>
        </p:nvSpPr>
        <p:spPr>
          <a:xfrm>
            <a:off x="10000414" y="2017632"/>
            <a:ext cx="6960014" cy="1115390"/>
          </a:xfrm>
          <a:prstGeom prst="rect">
            <a:avLst/>
          </a:prstGeom>
          <a:noFill/>
          <a:ln>
            <a:noFill/>
          </a:ln>
        </p:spPr>
        <p:txBody>
          <a:bodyPr anchorCtr="0" anchor="t" bIns="25400" lIns="25400" spcFirstLastPara="1" rIns="25400" wrap="square" tIns="25400">
            <a:normAutofit/>
          </a:bodyPr>
          <a:lstStyle/>
          <a:p>
            <a:pPr indent="0" lvl="0" marL="0" marR="0" rtl="0" algn="l">
              <a:lnSpc>
                <a:spcPct val="127464"/>
              </a:lnSpc>
              <a:spcBef>
                <a:spcPts val="0"/>
              </a:spcBef>
              <a:spcAft>
                <a:spcPts val="0"/>
              </a:spcAft>
              <a:buClr>
                <a:srgbClr val="DCDCDC"/>
              </a:buClr>
              <a:buSzPts val="1950"/>
              <a:buFont typeface="Arial"/>
              <a:buNone/>
            </a:pPr>
            <a:r>
              <a:rPr b="0" i="0" lang="en-US" sz="1950" u="none" cap="none" strike="noStrike">
                <a:solidFill>
                  <a:srgbClr val="DCDCDC"/>
                </a:solidFill>
                <a:latin typeface="Arial"/>
                <a:ea typeface="Arial"/>
                <a:cs typeface="Arial"/>
                <a:sym typeface="Arial"/>
              </a:rPr>
              <a:t>NIGHT is unshielded, so spending it reveals the sender. The vault pools deposited NIGHT and mints mNight, a shielded credit, against it 1:1</a:t>
            </a:r>
            <a:endParaRPr b="0" i="0" sz="1950" u="none" cap="none" strike="noStrike">
              <a:solidFill>
                <a:schemeClr val="dk1"/>
              </a:solidFill>
              <a:latin typeface="Calibri"/>
              <a:ea typeface="Calibri"/>
              <a:cs typeface="Calibri"/>
              <a:sym typeface="Calibri"/>
            </a:endParaRPr>
          </a:p>
        </p:txBody>
      </p:sp>
      <p:sp>
        <p:nvSpPr>
          <p:cNvPr id="171" name="Google Shape;171;p7"/>
          <p:cNvSpPr/>
          <p:nvPr/>
        </p:nvSpPr>
        <p:spPr>
          <a:xfrm>
            <a:off x="9708421" y="3596346"/>
            <a:ext cx="7341280" cy="1717325"/>
          </a:xfrm>
          <a:prstGeom prst="roundRect">
            <a:avLst>
              <a:gd fmla="val 2219" name="adj"/>
            </a:avLst>
          </a:prstGeom>
          <a:solidFill>
            <a:srgbClr val="131313"/>
          </a:solid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10000414" y="3907315"/>
            <a:ext cx="7433025"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425"/>
              <a:buFont typeface="Space Mono"/>
              <a:buNone/>
            </a:pPr>
            <a:r>
              <a:rPr b="1" i="0" lang="en-US" sz="1425" u="none" cap="none" strike="noStrike">
                <a:solidFill>
                  <a:srgbClr val="8F8F8F"/>
                </a:solidFill>
                <a:latin typeface="Space Mono"/>
                <a:ea typeface="Space Mono"/>
                <a:cs typeface="Space Mono"/>
                <a:sym typeface="Space Mono"/>
              </a:rPr>
              <a:t>COMPACT CIRCUIT</a:t>
            </a:r>
            <a:endParaRPr b="0" i="0" sz="1425" u="none" cap="none" strike="noStrike">
              <a:solidFill>
                <a:schemeClr val="dk1"/>
              </a:solidFill>
              <a:latin typeface="Calibri"/>
              <a:ea typeface="Calibri"/>
              <a:cs typeface="Calibri"/>
              <a:sym typeface="Calibri"/>
            </a:endParaRPr>
          </a:p>
        </p:txBody>
      </p:sp>
      <p:sp>
        <p:nvSpPr>
          <p:cNvPr id="173" name="Google Shape;173;p7"/>
          <p:cNvSpPr/>
          <p:nvPr/>
        </p:nvSpPr>
        <p:spPr>
          <a:xfrm>
            <a:off x="10000414" y="4284508"/>
            <a:ext cx="6960014" cy="756293"/>
          </a:xfrm>
          <a:prstGeom prst="rect">
            <a:avLst/>
          </a:prstGeom>
          <a:noFill/>
          <a:ln>
            <a:noFill/>
          </a:ln>
        </p:spPr>
        <p:txBody>
          <a:bodyPr anchorCtr="0" anchor="t" bIns="25400" lIns="25400" spcFirstLastPara="1" rIns="25400" wrap="square" tIns="25400">
            <a:normAutofit/>
          </a:bodyPr>
          <a:lstStyle/>
          <a:p>
            <a:pPr indent="0" lvl="0" marL="0" marR="0" rtl="0" algn="l">
              <a:lnSpc>
                <a:spcPct val="127464"/>
              </a:lnSpc>
              <a:spcBef>
                <a:spcPts val="0"/>
              </a:spcBef>
              <a:spcAft>
                <a:spcPts val="0"/>
              </a:spcAft>
              <a:buClr>
                <a:srgbClr val="FFFFFF"/>
              </a:buClr>
              <a:buSzPts val="1950"/>
              <a:buFont typeface="Space Mono"/>
              <a:buNone/>
            </a:pPr>
            <a:r>
              <a:rPr b="0" i="0" lang="en-US" sz="1950" u="none" cap="none" strike="noStrike">
                <a:solidFill>
                  <a:srgbClr val="FFFFFF"/>
                </a:solidFill>
                <a:latin typeface="Space Mono"/>
                <a:ea typeface="Space Mono"/>
                <a:cs typeface="Space Mono"/>
                <a:sym typeface="Space Mono"/>
              </a:rPr>
              <a:t>pay(serviceId) </a:t>
            </a:r>
            <a:r>
              <a:rPr b="0" i="0" lang="en-US" sz="1950" u="none" cap="none" strike="noStrike">
                <a:solidFill>
                  <a:srgbClr val="DCDCDC"/>
                </a:solidFill>
                <a:latin typeface="Arial"/>
                <a:ea typeface="Arial"/>
                <a:cs typeface="Arial"/>
                <a:sym typeface="Arial"/>
              </a:rPr>
              <a:t>takes no payer argument. There is no </a:t>
            </a:r>
            <a:r>
              <a:rPr b="0" i="0" lang="en-US" sz="1950" u="none" cap="none" strike="noStrike">
                <a:solidFill>
                  <a:srgbClr val="FFFFFF"/>
                </a:solidFill>
                <a:latin typeface="Space Mono"/>
                <a:ea typeface="Space Mono"/>
                <a:cs typeface="Space Mono"/>
                <a:sym typeface="Space Mono"/>
              </a:rPr>
              <a:t>msg.sender </a:t>
            </a:r>
            <a:r>
              <a:rPr b="0" i="0" lang="en-US" sz="1950" u="none" cap="none" strike="noStrike">
                <a:solidFill>
                  <a:srgbClr val="DCDCDC"/>
                </a:solidFill>
                <a:latin typeface="Arial"/>
                <a:ea typeface="Arial"/>
                <a:cs typeface="Arial"/>
                <a:sym typeface="Arial"/>
              </a:rPr>
              <a:t>to read and none is added</a:t>
            </a:r>
            <a:endParaRPr b="0" i="0" sz="1950" u="none" cap="none" strike="noStrike">
              <a:solidFill>
                <a:schemeClr val="dk1"/>
              </a:solidFill>
              <a:latin typeface="Calibri"/>
              <a:ea typeface="Calibri"/>
              <a:cs typeface="Calibri"/>
              <a:sym typeface="Calibri"/>
            </a:endParaRPr>
          </a:p>
        </p:txBody>
      </p:sp>
      <p:sp>
        <p:nvSpPr>
          <p:cNvPr id="174" name="Google Shape;174;p7"/>
          <p:cNvSpPr/>
          <p:nvPr/>
        </p:nvSpPr>
        <p:spPr>
          <a:xfrm>
            <a:off x="9708421" y="5504126"/>
            <a:ext cx="7341280" cy="2076421"/>
          </a:xfrm>
          <a:prstGeom prst="roundRect">
            <a:avLst>
              <a:gd fmla="val 1835" name="adj"/>
            </a:avLst>
          </a:prstGeom>
          <a:solidFill>
            <a:srgbClr val="131313"/>
          </a:solid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p:nvPr/>
        </p:nvSpPr>
        <p:spPr>
          <a:xfrm>
            <a:off x="10000414" y="5815095"/>
            <a:ext cx="7433025"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425"/>
              <a:buFont typeface="Space Mono"/>
              <a:buNone/>
            </a:pPr>
            <a:r>
              <a:rPr b="1" i="0" lang="en-US" sz="1425" u="none" cap="none" strike="noStrike">
                <a:solidFill>
                  <a:srgbClr val="8F8F8F"/>
                </a:solidFill>
                <a:latin typeface="Space Mono"/>
                <a:ea typeface="Space Mono"/>
                <a:cs typeface="Space Mono"/>
                <a:sym typeface="Space Mono"/>
              </a:rPr>
              <a:t>WITNESS</a:t>
            </a:r>
            <a:endParaRPr b="0" i="0" sz="1425" u="none" cap="none" strike="noStrike">
              <a:solidFill>
                <a:schemeClr val="dk1"/>
              </a:solidFill>
              <a:latin typeface="Calibri"/>
              <a:ea typeface="Calibri"/>
              <a:cs typeface="Calibri"/>
              <a:sym typeface="Calibri"/>
            </a:endParaRPr>
          </a:p>
        </p:txBody>
      </p:sp>
      <p:sp>
        <p:nvSpPr>
          <p:cNvPr id="176" name="Google Shape;176;p7"/>
          <p:cNvSpPr/>
          <p:nvPr/>
        </p:nvSpPr>
        <p:spPr>
          <a:xfrm>
            <a:off x="10000414" y="6192288"/>
            <a:ext cx="6960014" cy="1115390"/>
          </a:xfrm>
          <a:prstGeom prst="rect">
            <a:avLst/>
          </a:prstGeom>
          <a:noFill/>
          <a:ln>
            <a:noFill/>
          </a:ln>
        </p:spPr>
        <p:txBody>
          <a:bodyPr anchorCtr="0" anchor="t" bIns="25400" lIns="25400" spcFirstLastPara="1" rIns="25400" wrap="square" tIns="25400">
            <a:normAutofit/>
          </a:bodyPr>
          <a:lstStyle/>
          <a:p>
            <a:pPr indent="0" lvl="0" marL="0" marR="0" rtl="0" algn="l">
              <a:lnSpc>
                <a:spcPct val="127464"/>
              </a:lnSpc>
              <a:spcBef>
                <a:spcPts val="0"/>
              </a:spcBef>
              <a:spcAft>
                <a:spcPts val="0"/>
              </a:spcAft>
              <a:buClr>
                <a:srgbClr val="DCDCDC"/>
              </a:buClr>
              <a:buSzPts val="1950"/>
              <a:buFont typeface="Arial"/>
              <a:buNone/>
            </a:pPr>
            <a:r>
              <a:rPr b="0" i="0" lang="en-US" sz="1950" u="none" cap="none" strike="noStrike">
                <a:solidFill>
                  <a:srgbClr val="DCDCDC"/>
                </a:solidFill>
                <a:latin typeface="Arial"/>
                <a:ea typeface="Arial"/>
                <a:cs typeface="Arial"/>
                <a:sym typeface="Arial"/>
              </a:rPr>
              <a:t>Proving runs on the agent's machine. The credit coin and the receipt secret are inputs to the proof, never fields of a transaction</a:t>
            </a:r>
            <a:endParaRPr b="0" i="0" sz="1950" u="none" cap="none" strike="noStrike">
              <a:solidFill>
                <a:schemeClr val="dk1"/>
              </a:solidFill>
              <a:latin typeface="Calibri"/>
              <a:ea typeface="Calibri"/>
              <a:cs typeface="Calibri"/>
              <a:sym typeface="Calibri"/>
            </a:endParaRPr>
          </a:p>
        </p:txBody>
      </p:sp>
      <p:sp>
        <p:nvSpPr>
          <p:cNvPr id="177" name="Google Shape;177;p7"/>
          <p:cNvSpPr/>
          <p:nvPr/>
        </p:nvSpPr>
        <p:spPr>
          <a:xfrm>
            <a:off x="9708421" y="7771002"/>
            <a:ext cx="7341280" cy="1717325"/>
          </a:xfrm>
          <a:prstGeom prst="roundRect">
            <a:avLst>
              <a:gd fmla="val 2219" name="adj"/>
            </a:avLst>
          </a:prstGeom>
          <a:solidFill>
            <a:srgbClr val="131313"/>
          </a:solid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p:nvPr/>
        </p:nvSpPr>
        <p:spPr>
          <a:xfrm>
            <a:off x="10000414" y="8081971"/>
            <a:ext cx="7433025"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425"/>
              <a:buFont typeface="Space Mono"/>
              <a:buNone/>
            </a:pPr>
            <a:r>
              <a:rPr b="1" i="0" lang="en-US" sz="1425" u="none" cap="none" strike="noStrike">
                <a:solidFill>
                  <a:srgbClr val="8F8F8F"/>
                </a:solidFill>
                <a:latin typeface="Space Mono"/>
                <a:ea typeface="Space Mono"/>
                <a:cs typeface="Space Mono"/>
                <a:sym typeface="Space Mono"/>
              </a:rPr>
              <a:t>RECEIPT</a:t>
            </a:r>
            <a:endParaRPr b="0" i="0" sz="1425" u="none" cap="none" strike="noStrike">
              <a:solidFill>
                <a:schemeClr val="dk1"/>
              </a:solidFill>
              <a:latin typeface="Calibri"/>
              <a:ea typeface="Calibri"/>
              <a:cs typeface="Calibri"/>
              <a:sym typeface="Calibri"/>
            </a:endParaRPr>
          </a:p>
        </p:txBody>
      </p:sp>
      <p:sp>
        <p:nvSpPr>
          <p:cNvPr id="179" name="Google Shape;179;p7"/>
          <p:cNvSpPr/>
          <p:nvPr/>
        </p:nvSpPr>
        <p:spPr>
          <a:xfrm>
            <a:off x="10000414" y="8459164"/>
            <a:ext cx="6960014" cy="756293"/>
          </a:xfrm>
          <a:prstGeom prst="rect">
            <a:avLst/>
          </a:prstGeom>
          <a:noFill/>
          <a:ln>
            <a:noFill/>
          </a:ln>
        </p:spPr>
        <p:txBody>
          <a:bodyPr anchorCtr="0" anchor="t" bIns="25400" lIns="25400" spcFirstLastPara="1" rIns="25400" wrap="square" tIns="25400">
            <a:normAutofit/>
          </a:bodyPr>
          <a:lstStyle/>
          <a:p>
            <a:pPr indent="0" lvl="0" marL="0" marR="0" rtl="0" algn="l">
              <a:lnSpc>
                <a:spcPct val="127464"/>
              </a:lnSpc>
              <a:spcBef>
                <a:spcPts val="0"/>
              </a:spcBef>
              <a:spcAft>
                <a:spcPts val="0"/>
              </a:spcAft>
              <a:buClr>
                <a:srgbClr val="DCDCDC"/>
              </a:buClr>
              <a:buSzPts val="1950"/>
              <a:buFont typeface="Arial"/>
              <a:buNone/>
            </a:pPr>
            <a:r>
              <a:rPr b="0" i="0" lang="en-US" sz="1950" u="none" cap="none" strike="noStrike">
                <a:solidFill>
                  <a:srgbClr val="DCDCDC"/>
                </a:solidFill>
                <a:latin typeface="Arial"/>
                <a:ea typeface="Arial"/>
                <a:cs typeface="Arial"/>
                <a:sym typeface="Arial"/>
              </a:rPr>
              <a:t>Only </a:t>
            </a:r>
            <a:r>
              <a:rPr b="0" i="0" lang="en-US" sz="1950" u="none" cap="none" strike="noStrike">
                <a:solidFill>
                  <a:srgbClr val="FFFFFF"/>
                </a:solidFill>
                <a:latin typeface="Space Mono"/>
                <a:ea typeface="Space Mono"/>
                <a:cs typeface="Space Mono"/>
                <a:sym typeface="Space Mono"/>
              </a:rPr>
              <a:t>hash(secret, serviceId) </a:t>
            </a:r>
            <a:r>
              <a:rPr b="0" i="0" lang="en-US" sz="1950" u="none" cap="none" strike="noStrike">
                <a:solidFill>
                  <a:srgbClr val="DCDCDC"/>
                </a:solidFill>
                <a:latin typeface="Arial"/>
                <a:ea typeface="Arial"/>
                <a:cs typeface="Arial"/>
                <a:sym typeface="Arial"/>
              </a:rPr>
              <a:t>reaches the chain. The secret stays with the payer and is what claims the resource</a:t>
            </a:r>
            <a:endParaRPr b="0" i="0" sz="1950" u="none" cap="none" strike="noStrike">
              <a:solidFill>
                <a:schemeClr val="dk1"/>
              </a:solidFill>
              <a:latin typeface="Calibri"/>
              <a:ea typeface="Calibri"/>
              <a:cs typeface="Calibri"/>
              <a:sym typeface="Calibri"/>
            </a:endParaRPr>
          </a:p>
        </p:txBody>
      </p:sp>
      <p:sp>
        <p:nvSpPr>
          <p:cNvPr id="180" name="Google Shape;180;p7"/>
          <p:cNvSpPr/>
          <p:nvPr/>
        </p:nvSpPr>
        <p:spPr>
          <a:xfrm>
            <a:off x="1238203" y="9488327"/>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0" i="0" lang="en-US" sz="1500" u="none" cap="none" strike="noStrike">
                <a:solidFill>
                  <a:srgbClr val="8F8F8F"/>
                </a:solidFill>
                <a:latin typeface="Space Mono"/>
                <a:ea typeface="Space Mono"/>
                <a:cs typeface="Space Mono"/>
                <a:sym typeface="Space Mono"/>
              </a:rPr>
              <a:t>07 / 13</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85" name="Shape 185"/>
        <p:cNvGrpSpPr/>
        <p:nvPr/>
      </p:nvGrpSpPr>
      <p:grpSpPr>
        <a:xfrm>
          <a:off x="0" y="0"/>
          <a:ext cx="0" cy="0"/>
          <a:chOff x="0" y="0"/>
          <a:chExt cx="0" cy="0"/>
        </a:xfrm>
      </p:grpSpPr>
      <p:sp>
        <p:nvSpPr>
          <p:cNvPr id="186" name="Google Shape;186;p8"/>
          <p:cNvSpPr/>
          <p:nvPr/>
        </p:nvSpPr>
        <p:spPr>
          <a:xfrm>
            <a:off x="1238203" y="104774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1" i="0" lang="en-US" sz="1500" u="none" cap="none" strike="noStrike">
                <a:solidFill>
                  <a:srgbClr val="8F8F8F"/>
                </a:solidFill>
                <a:latin typeface="Space Mono"/>
                <a:ea typeface="Space Mono"/>
                <a:cs typeface="Space Mono"/>
                <a:sym typeface="Space Mono"/>
              </a:rPr>
              <a:t>ONE CALL, END TO END</a:t>
            </a:r>
            <a:endParaRPr b="0" i="0" sz="1500" u="none" cap="none" strike="noStrike">
              <a:solidFill>
                <a:schemeClr val="dk1"/>
              </a:solidFill>
              <a:latin typeface="Calibri"/>
              <a:ea typeface="Calibri"/>
              <a:cs typeface="Calibri"/>
              <a:sym typeface="Calibri"/>
            </a:endParaRPr>
          </a:p>
        </p:txBody>
      </p:sp>
      <p:sp>
        <p:nvSpPr>
          <p:cNvPr id="187" name="Google Shape;187;p8"/>
          <p:cNvSpPr/>
          <p:nvPr/>
        </p:nvSpPr>
        <p:spPr>
          <a:xfrm>
            <a:off x="1238203" y="3431715"/>
            <a:ext cx="15811498"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1238203" y="2800092"/>
            <a:ext cx="800067" cy="37616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800"/>
              <a:buFont typeface="Space Mono"/>
              <a:buNone/>
            </a:pPr>
            <a:r>
              <a:rPr b="0" i="0" lang="en-US" sz="1800" u="none" cap="none" strike="noStrike">
                <a:solidFill>
                  <a:srgbClr val="8F8F8F"/>
                </a:solidFill>
                <a:latin typeface="Space Mono"/>
                <a:ea typeface="Space Mono"/>
                <a:cs typeface="Space Mono"/>
                <a:sym typeface="Space Mono"/>
              </a:rPr>
              <a:t>01</a:t>
            </a:r>
            <a:endParaRPr b="0" i="0" sz="1800" u="none" cap="none" strike="noStrike">
              <a:solidFill>
                <a:schemeClr val="dk1"/>
              </a:solidFill>
              <a:latin typeface="Calibri"/>
              <a:ea typeface="Calibri"/>
              <a:cs typeface="Calibri"/>
              <a:sym typeface="Calibri"/>
            </a:endParaRPr>
          </a:p>
        </p:txBody>
      </p:sp>
      <p:sp>
        <p:nvSpPr>
          <p:cNvPr id="189" name="Google Shape;189;p8"/>
          <p:cNvSpPr/>
          <p:nvPr/>
        </p:nvSpPr>
        <p:spPr>
          <a:xfrm>
            <a:off x="2266779" y="2724967"/>
            <a:ext cx="5448202" cy="459116"/>
          </a:xfrm>
          <a:prstGeom prst="rect">
            <a:avLst/>
          </a:prstGeom>
          <a:noFill/>
          <a:ln>
            <a:noFill/>
          </a:ln>
        </p:spPr>
        <p:txBody>
          <a:bodyPr anchorCtr="0" anchor="t" bIns="25400" lIns="25400" spcFirstLastPara="1" rIns="25400" wrap="square" tIns="25400">
            <a:normAutofit/>
          </a:bodyPr>
          <a:lstStyle/>
          <a:p>
            <a:pPr indent="0" lvl="0" marL="0" marR="0" rtl="0" algn="l">
              <a:lnSpc>
                <a:spcPct val="112080"/>
              </a:lnSpc>
              <a:spcBef>
                <a:spcPts val="0"/>
              </a:spcBef>
              <a:spcAft>
                <a:spcPts val="0"/>
              </a:spcAft>
              <a:buClr>
                <a:srgbClr val="FFFFFF"/>
              </a:buClr>
              <a:buSzPts val="2550"/>
              <a:buFont typeface="Arial"/>
              <a:buNone/>
            </a:pPr>
            <a:r>
              <a:rPr b="0" i="0" lang="en-US" sz="2550" u="none" cap="none" strike="noStrike">
                <a:solidFill>
                  <a:srgbClr val="FFFFFF"/>
                </a:solidFill>
                <a:latin typeface="Arial"/>
                <a:ea typeface="Arial"/>
                <a:cs typeface="Arial"/>
                <a:sym typeface="Arial"/>
              </a:rPr>
              <a:t>Agent deposits into the vault</a:t>
            </a:r>
            <a:endParaRPr b="0" i="0" sz="2550" u="none" cap="none" strike="noStrike">
              <a:solidFill>
                <a:schemeClr val="dk1"/>
              </a:solidFill>
              <a:latin typeface="Calibri"/>
              <a:ea typeface="Calibri"/>
              <a:cs typeface="Calibri"/>
              <a:sym typeface="Calibri"/>
            </a:endParaRPr>
          </a:p>
        </p:txBody>
      </p:sp>
      <p:sp>
        <p:nvSpPr>
          <p:cNvPr id="190" name="Google Shape;190;p8"/>
          <p:cNvSpPr/>
          <p:nvPr/>
        </p:nvSpPr>
        <p:spPr>
          <a:xfrm>
            <a:off x="7524398" y="2793832"/>
            <a:ext cx="10477833" cy="384773"/>
          </a:xfrm>
          <a:prstGeom prst="rect">
            <a:avLst/>
          </a:prstGeom>
          <a:noFill/>
          <a:ln>
            <a:noFill/>
          </a:ln>
        </p:spPr>
        <p:txBody>
          <a:bodyPr anchorCtr="0" anchor="t" bIns="25400" lIns="25400" spcFirstLastPara="1" rIns="25400" wrap="square" tIns="25400">
            <a:normAutofit/>
          </a:bodyPr>
          <a:lstStyle/>
          <a:p>
            <a:pPr indent="0" lvl="0" marL="0" marR="0" rtl="0" algn="l">
              <a:lnSpc>
                <a:spcPct val="123069"/>
              </a:lnSpc>
              <a:spcBef>
                <a:spcPts val="0"/>
              </a:spcBef>
              <a:spcAft>
                <a:spcPts val="0"/>
              </a:spcAft>
              <a:buClr>
                <a:srgbClr val="B5B5B5"/>
              </a:buClr>
              <a:buSzPts val="1950"/>
              <a:buFont typeface="Arial"/>
              <a:buNone/>
            </a:pPr>
            <a:r>
              <a:rPr b="0" i="0" lang="en-US" sz="1950" u="none" cap="none" strike="noStrike">
                <a:solidFill>
                  <a:srgbClr val="B5B5B5"/>
                </a:solidFill>
                <a:latin typeface="Arial"/>
                <a:ea typeface="Arial"/>
                <a:cs typeface="Arial"/>
                <a:sym typeface="Arial"/>
              </a:rPr>
              <a:t>Unshielded NIGHT in, shielded mNight minted out. </a:t>
            </a:r>
            <a:r>
              <a:rPr b="0" i="0" lang="en-US" sz="1950" u="none" cap="none" strike="noStrike">
                <a:solidFill>
                  <a:srgbClr val="8686FF"/>
                </a:solidFill>
                <a:latin typeface="Arial"/>
                <a:ea typeface="Arial"/>
                <a:cs typeface="Arial"/>
                <a:sym typeface="Arial"/>
              </a:rPr>
              <a:t>Deposit is public.</a:t>
            </a:r>
            <a:endParaRPr b="0" i="0" sz="1950" u="none" cap="none" strike="noStrike">
              <a:solidFill>
                <a:schemeClr val="dk1"/>
              </a:solidFill>
              <a:latin typeface="Calibri"/>
              <a:ea typeface="Calibri"/>
              <a:cs typeface="Calibri"/>
              <a:sym typeface="Calibri"/>
            </a:endParaRPr>
          </a:p>
        </p:txBody>
      </p:sp>
      <p:sp>
        <p:nvSpPr>
          <p:cNvPr id="191" name="Google Shape;191;p8"/>
          <p:cNvSpPr/>
          <p:nvPr/>
        </p:nvSpPr>
        <p:spPr>
          <a:xfrm>
            <a:off x="1238203" y="4430455"/>
            <a:ext cx="15811498"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
          <p:cNvSpPr/>
          <p:nvPr/>
        </p:nvSpPr>
        <p:spPr>
          <a:xfrm>
            <a:off x="1238203" y="3798833"/>
            <a:ext cx="800067" cy="37616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800"/>
              <a:buFont typeface="Space Mono"/>
              <a:buNone/>
            </a:pPr>
            <a:r>
              <a:rPr b="0" i="0" lang="en-US" sz="1800" u="none" cap="none" strike="noStrike">
                <a:solidFill>
                  <a:srgbClr val="8F8F8F"/>
                </a:solidFill>
                <a:latin typeface="Space Mono"/>
                <a:ea typeface="Space Mono"/>
                <a:cs typeface="Space Mono"/>
                <a:sym typeface="Space Mono"/>
              </a:rPr>
              <a:t>02</a:t>
            </a:r>
            <a:endParaRPr b="0" i="0" sz="1800" u="none" cap="none" strike="noStrike">
              <a:solidFill>
                <a:schemeClr val="dk1"/>
              </a:solidFill>
              <a:latin typeface="Calibri"/>
              <a:ea typeface="Calibri"/>
              <a:cs typeface="Calibri"/>
              <a:sym typeface="Calibri"/>
            </a:endParaRPr>
          </a:p>
        </p:txBody>
      </p:sp>
      <p:sp>
        <p:nvSpPr>
          <p:cNvPr id="193" name="Google Shape;193;p8"/>
          <p:cNvSpPr/>
          <p:nvPr/>
        </p:nvSpPr>
        <p:spPr>
          <a:xfrm>
            <a:off x="2266779" y="3723707"/>
            <a:ext cx="5448202" cy="459116"/>
          </a:xfrm>
          <a:prstGeom prst="rect">
            <a:avLst/>
          </a:prstGeom>
          <a:noFill/>
          <a:ln>
            <a:noFill/>
          </a:ln>
        </p:spPr>
        <p:txBody>
          <a:bodyPr anchorCtr="0" anchor="t" bIns="25400" lIns="25400" spcFirstLastPara="1" rIns="25400" wrap="square" tIns="25400">
            <a:normAutofit/>
          </a:bodyPr>
          <a:lstStyle/>
          <a:p>
            <a:pPr indent="0" lvl="0" marL="0" marR="0" rtl="0" algn="l">
              <a:lnSpc>
                <a:spcPct val="112080"/>
              </a:lnSpc>
              <a:spcBef>
                <a:spcPts val="0"/>
              </a:spcBef>
              <a:spcAft>
                <a:spcPts val="0"/>
              </a:spcAft>
              <a:buClr>
                <a:srgbClr val="FFFFFF"/>
              </a:buClr>
              <a:buSzPts val="2550"/>
              <a:buFont typeface="Arial"/>
              <a:buNone/>
            </a:pPr>
            <a:r>
              <a:rPr b="0" i="0" lang="en-US" sz="2550" u="none" cap="none" strike="noStrike">
                <a:solidFill>
                  <a:srgbClr val="FFFFFF"/>
                </a:solidFill>
                <a:latin typeface="Arial"/>
                <a:ea typeface="Arial"/>
                <a:cs typeface="Arial"/>
                <a:sym typeface="Arial"/>
              </a:rPr>
              <a:t>Gateway answers 402</a:t>
            </a:r>
            <a:endParaRPr b="0" i="0" sz="2550" u="none" cap="none" strike="noStrike">
              <a:solidFill>
                <a:schemeClr val="dk1"/>
              </a:solidFill>
              <a:latin typeface="Calibri"/>
              <a:ea typeface="Calibri"/>
              <a:cs typeface="Calibri"/>
              <a:sym typeface="Calibri"/>
            </a:endParaRPr>
          </a:p>
        </p:txBody>
      </p:sp>
      <p:sp>
        <p:nvSpPr>
          <p:cNvPr id="194" name="Google Shape;194;p8"/>
          <p:cNvSpPr/>
          <p:nvPr/>
        </p:nvSpPr>
        <p:spPr>
          <a:xfrm>
            <a:off x="7524398" y="3792572"/>
            <a:ext cx="10477833" cy="384773"/>
          </a:xfrm>
          <a:prstGeom prst="rect">
            <a:avLst/>
          </a:prstGeom>
          <a:noFill/>
          <a:ln>
            <a:noFill/>
          </a:ln>
        </p:spPr>
        <p:txBody>
          <a:bodyPr anchorCtr="0" anchor="t" bIns="25400" lIns="25400" spcFirstLastPara="1" rIns="25400" wrap="square" tIns="25400">
            <a:normAutofit/>
          </a:bodyPr>
          <a:lstStyle/>
          <a:p>
            <a:pPr indent="0" lvl="0" marL="0" marR="0" rtl="0" algn="l">
              <a:lnSpc>
                <a:spcPct val="123069"/>
              </a:lnSpc>
              <a:spcBef>
                <a:spcPts val="0"/>
              </a:spcBef>
              <a:spcAft>
                <a:spcPts val="0"/>
              </a:spcAft>
              <a:buClr>
                <a:srgbClr val="B5B5B5"/>
              </a:buClr>
              <a:buSzPts val="1950"/>
              <a:buFont typeface="Arial"/>
              <a:buNone/>
            </a:pPr>
            <a:r>
              <a:rPr b="0" i="0" lang="en-US" sz="1950" u="none" cap="none" strike="noStrike">
                <a:solidFill>
                  <a:srgbClr val="B5B5B5"/>
                </a:solidFill>
                <a:latin typeface="Arial"/>
                <a:ea typeface="Arial"/>
                <a:cs typeface="Arial"/>
                <a:sym typeface="Arial"/>
              </a:rPr>
              <a:t>Carrying the registered price — </a:t>
            </a:r>
            <a:r>
              <a:rPr b="0" i="0" lang="en-US" sz="1950" u="none" cap="none" strike="noStrike">
                <a:solidFill>
                  <a:srgbClr val="DCDCDC"/>
                </a:solidFill>
                <a:latin typeface="Space Mono"/>
                <a:ea typeface="Space Mono"/>
                <a:cs typeface="Space Mono"/>
                <a:sym typeface="Space Mono"/>
              </a:rPr>
              <a:t>0.01 USD · 500 STAR</a:t>
            </a:r>
            <a:endParaRPr b="0" i="0" sz="1950" u="none" cap="none" strike="noStrike">
              <a:solidFill>
                <a:schemeClr val="dk1"/>
              </a:solidFill>
              <a:latin typeface="Calibri"/>
              <a:ea typeface="Calibri"/>
              <a:cs typeface="Calibri"/>
              <a:sym typeface="Calibri"/>
            </a:endParaRPr>
          </a:p>
        </p:txBody>
      </p:sp>
      <p:sp>
        <p:nvSpPr>
          <p:cNvPr id="195" name="Google Shape;195;p8"/>
          <p:cNvSpPr/>
          <p:nvPr/>
        </p:nvSpPr>
        <p:spPr>
          <a:xfrm>
            <a:off x="1238203" y="5429196"/>
            <a:ext cx="15811498"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a:off x="1238203" y="4797573"/>
            <a:ext cx="800067" cy="37616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800"/>
              <a:buFont typeface="Space Mono"/>
              <a:buNone/>
            </a:pPr>
            <a:r>
              <a:rPr b="0" i="0" lang="en-US" sz="1800" u="none" cap="none" strike="noStrike">
                <a:solidFill>
                  <a:srgbClr val="8F8F8F"/>
                </a:solidFill>
                <a:latin typeface="Space Mono"/>
                <a:ea typeface="Space Mono"/>
                <a:cs typeface="Space Mono"/>
                <a:sym typeface="Space Mono"/>
              </a:rPr>
              <a:t>03</a:t>
            </a:r>
            <a:endParaRPr b="0" i="0" sz="1800" u="none" cap="none" strike="noStrike">
              <a:solidFill>
                <a:schemeClr val="dk1"/>
              </a:solidFill>
              <a:latin typeface="Calibri"/>
              <a:ea typeface="Calibri"/>
              <a:cs typeface="Calibri"/>
              <a:sym typeface="Calibri"/>
            </a:endParaRPr>
          </a:p>
        </p:txBody>
      </p:sp>
      <p:sp>
        <p:nvSpPr>
          <p:cNvPr id="197" name="Google Shape;197;p8"/>
          <p:cNvSpPr/>
          <p:nvPr/>
        </p:nvSpPr>
        <p:spPr>
          <a:xfrm>
            <a:off x="2266779" y="4722448"/>
            <a:ext cx="5448202" cy="459116"/>
          </a:xfrm>
          <a:prstGeom prst="rect">
            <a:avLst/>
          </a:prstGeom>
          <a:noFill/>
          <a:ln>
            <a:noFill/>
          </a:ln>
        </p:spPr>
        <p:txBody>
          <a:bodyPr anchorCtr="0" anchor="t" bIns="25400" lIns="25400" spcFirstLastPara="1" rIns="25400" wrap="square" tIns="25400">
            <a:normAutofit/>
          </a:bodyPr>
          <a:lstStyle/>
          <a:p>
            <a:pPr indent="0" lvl="0" marL="0" marR="0" rtl="0" algn="l">
              <a:lnSpc>
                <a:spcPct val="112080"/>
              </a:lnSpc>
              <a:spcBef>
                <a:spcPts val="0"/>
              </a:spcBef>
              <a:spcAft>
                <a:spcPts val="0"/>
              </a:spcAft>
              <a:buClr>
                <a:srgbClr val="00E6A0"/>
              </a:buClr>
              <a:buSzPts val="2550"/>
              <a:buFont typeface="Arial"/>
              <a:buNone/>
            </a:pPr>
            <a:r>
              <a:rPr b="0" i="0" lang="en-US" sz="2550" u="none" cap="none" strike="noStrike">
                <a:solidFill>
                  <a:srgbClr val="00E6A0"/>
                </a:solidFill>
                <a:latin typeface="Arial"/>
                <a:ea typeface="Arial"/>
                <a:cs typeface="Arial"/>
                <a:sym typeface="Arial"/>
              </a:rPr>
              <a:t>Agent proves locally</a:t>
            </a:r>
            <a:endParaRPr b="0" i="0" sz="2550" u="none" cap="none" strike="noStrike">
              <a:solidFill>
                <a:schemeClr val="dk1"/>
              </a:solidFill>
              <a:latin typeface="Calibri"/>
              <a:ea typeface="Calibri"/>
              <a:cs typeface="Calibri"/>
              <a:sym typeface="Calibri"/>
            </a:endParaRPr>
          </a:p>
        </p:txBody>
      </p:sp>
      <p:sp>
        <p:nvSpPr>
          <p:cNvPr id="198" name="Google Shape;198;p8"/>
          <p:cNvSpPr/>
          <p:nvPr/>
        </p:nvSpPr>
        <p:spPr>
          <a:xfrm>
            <a:off x="7524398" y="4791312"/>
            <a:ext cx="10477833" cy="384773"/>
          </a:xfrm>
          <a:prstGeom prst="rect">
            <a:avLst/>
          </a:prstGeom>
          <a:noFill/>
          <a:ln>
            <a:noFill/>
          </a:ln>
        </p:spPr>
        <p:txBody>
          <a:bodyPr anchorCtr="0" anchor="t" bIns="25400" lIns="25400" spcFirstLastPara="1" rIns="25400" wrap="square" tIns="25400">
            <a:normAutofit/>
          </a:bodyPr>
          <a:lstStyle/>
          <a:p>
            <a:pPr indent="0" lvl="0" marL="0" marR="0" rtl="0" algn="l">
              <a:lnSpc>
                <a:spcPct val="123069"/>
              </a:lnSpc>
              <a:spcBef>
                <a:spcPts val="0"/>
              </a:spcBef>
              <a:spcAft>
                <a:spcPts val="0"/>
              </a:spcAft>
              <a:buClr>
                <a:srgbClr val="B5B5B5"/>
              </a:buClr>
              <a:buSzPts val="1950"/>
              <a:buFont typeface="Arial"/>
              <a:buNone/>
            </a:pPr>
            <a:r>
              <a:rPr b="0" i="0" lang="en-US" sz="1950" u="none" cap="none" strike="noStrike">
                <a:solidFill>
                  <a:srgbClr val="B5B5B5"/>
                </a:solidFill>
                <a:latin typeface="Arial"/>
                <a:ea typeface="Arial"/>
                <a:cs typeface="Arial"/>
                <a:sym typeface="Arial"/>
              </a:rPr>
              <a:t>No address enters the transaction. </a:t>
            </a:r>
            <a:r>
              <a:rPr b="0" i="0" lang="en-US" sz="1950" u="none" cap="none" strike="noStrike">
                <a:solidFill>
                  <a:srgbClr val="00E6A0"/>
                </a:solidFill>
                <a:latin typeface="Arial"/>
                <a:ea typeface="Arial"/>
                <a:cs typeface="Arial"/>
                <a:sym typeface="Arial"/>
              </a:rPr>
              <a:t>Private.</a:t>
            </a:r>
            <a:endParaRPr b="0" i="0" sz="1950" u="none" cap="none" strike="noStrike">
              <a:solidFill>
                <a:schemeClr val="dk1"/>
              </a:solidFill>
              <a:latin typeface="Calibri"/>
              <a:ea typeface="Calibri"/>
              <a:cs typeface="Calibri"/>
              <a:sym typeface="Calibri"/>
            </a:endParaRPr>
          </a:p>
        </p:txBody>
      </p:sp>
      <p:sp>
        <p:nvSpPr>
          <p:cNvPr id="199" name="Google Shape;199;p8"/>
          <p:cNvSpPr/>
          <p:nvPr/>
        </p:nvSpPr>
        <p:spPr>
          <a:xfrm>
            <a:off x="1238203" y="6427936"/>
            <a:ext cx="15811498"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1238203" y="5796314"/>
            <a:ext cx="800067" cy="37616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800"/>
              <a:buFont typeface="Space Mono"/>
              <a:buNone/>
            </a:pPr>
            <a:r>
              <a:rPr b="0" i="0" lang="en-US" sz="1800" u="none" cap="none" strike="noStrike">
                <a:solidFill>
                  <a:srgbClr val="8F8F8F"/>
                </a:solidFill>
                <a:latin typeface="Space Mono"/>
                <a:ea typeface="Space Mono"/>
                <a:cs typeface="Space Mono"/>
                <a:sym typeface="Space Mono"/>
              </a:rPr>
              <a:t>04</a:t>
            </a:r>
            <a:endParaRPr b="0" i="0" sz="1800" u="none" cap="none" strike="noStrike">
              <a:solidFill>
                <a:schemeClr val="dk1"/>
              </a:solidFill>
              <a:latin typeface="Calibri"/>
              <a:ea typeface="Calibri"/>
              <a:cs typeface="Calibri"/>
              <a:sym typeface="Calibri"/>
            </a:endParaRPr>
          </a:p>
        </p:txBody>
      </p:sp>
      <p:sp>
        <p:nvSpPr>
          <p:cNvPr id="201" name="Google Shape;201;p8"/>
          <p:cNvSpPr/>
          <p:nvPr/>
        </p:nvSpPr>
        <p:spPr>
          <a:xfrm>
            <a:off x="2266779" y="5721188"/>
            <a:ext cx="5448202" cy="459116"/>
          </a:xfrm>
          <a:prstGeom prst="rect">
            <a:avLst/>
          </a:prstGeom>
          <a:noFill/>
          <a:ln>
            <a:noFill/>
          </a:ln>
        </p:spPr>
        <p:txBody>
          <a:bodyPr anchorCtr="0" anchor="t" bIns="25400" lIns="25400" spcFirstLastPara="1" rIns="25400" wrap="square" tIns="25400">
            <a:normAutofit/>
          </a:bodyPr>
          <a:lstStyle/>
          <a:p>
            <a:pPr indent="0" lvl="0" marL="0" marR="0" rtl="0" algn="l">
              <a:lnSpc>
                <a:spcPct val="112080"/>
              </a:lnSpc>
              <a:spcBef>
                <a:spcPts val="0"/>
              </a:spcBef>
              <a:spcAft>
                <a:spcPts val="0"/>
              </a:spcAft>
              <a:buClr>
                <a:srgbClr val="FFFFFF"/>
              </a:buClr>
              <a:buSzPts val="2550"/>
              <a:buFont typeface="Arial"/>
              <a:buNone/>
            </a:pPr>
            <a:r>
              <a:rPr b="0" i="0" lang="en-US" sz="2550" u="none" cap="none" strike="noStrike">
                <a:solidFill>
                  <a:srgbClr val="FFFFFF"/>
                </a:solidFill>
                <a:latin typeface="Arial"/>
                <a:ea typeface="Arial"/>
                <a:cs typeface="Arial"/>
                <a:sym typeface="Arial"/>
              </a:rPr>
              <a:t>Retry with the receipt secret</a:t>
            </a:r>
            <a:endParaRPr b="0" i="0" sz="2550" u="none" cap="none" strike="noStrike">
              <a:solidFill>
                <a:schemeClr val="dk1"/>
              </a:solidFill>
              <a:latin typeface="Calibri"/>
              <a:ea typeface="Calibri"/>
              <a:cs typeface="Calibri"/>
              <a:sym typeface="Calibri"/>
            </a:endParaRPr>
          </a:p>
        </p:txBody>
      </p:sp>
      <p:sp>
        <p:nvSpPr>
          <p:cNvPr id="202" name="Google Shape;202;p8"/>
          <p:cNvSpPr/>
          <p:nvPr/>
        </p:nvSpPr>
        <p:spPr>
          <a:xfrm>
            <a:off x="7524398" y="5790053"/>
            <a:ext cx="10477833" cy="384773"/>
          </a:xfrm>
          <a:prstGeom prst="rect">
            <a:avLst/>
          </a:prstGeom>
          <a:noFill/>
          <a:ln>
            <a:noFill/>
          </a:ln>
        </p:spPr>
        <p:txBody>
          <a:bodyPr anchorCtr="0" anchor="t" bIns="25400" lIns="25400" spcFirstLastPara="1" rIns="25400" wrap="square" tIns="25400">
            <a:normAutofit/>
          </a:bodyPr>
          <a:lstStyle/>
          <a:p>
            <a:pPr indent="0" lvl="0" marL="0" marR="0" rtl="0" algn="l">
              <a:lnSpc>
                <a:spcPct val="123069"/>
              </a:lnSpc>
              <a:spcBef>
                <a:spcPts val="0"/>
              </a:spcBef>
              <a:spcAft>
                <a:spcPts val="0"/>
              </a:spcAft>
              <a:buClr>
                <a:srgbClr val="B5B5B5"/>
              </a:buClr>
              <a:buSzPts val="1950"/>
              <a:buFont typeface="Arial"/>
              <a:buNone/>
            </a:pPr>
            <a:r>
              <a:rPr b="0" i="0" lang="en-US" sz="1950" u="none" cap="none" strike="noStrike">
                <a:solidFill>
                  <a:srgbClr val="B5B5B5"/>
                </a:solidFill>
                <a:latin typeface="Arial"/>
                <a:ea typeface="Arial"/>
                <a:cs typeface="Arial"/>
                <a:sym typeface="Arial"/>
              </a:rPr>
              <a:t>Same request, one </a:t>
            </a:r>
            <a:r>
              <a:rPr b="0" i="0" lang="en-US" sz="1950" u="none" cap="none" strike="noStrike">
                <a:solidFill>
                  <a:srgbClr val="DCDCDC"/>
                </a:solidFill>
                <a:latin typeface="Space Mono"/>
                <a:ea typeface="Space Mono"/>
                <a:cs typeface="Space Mono"/>
                <a:sym typeface="Space Mono"/>
              </a:rPr>
              <a:t>X-Payment </a:t>
            </a:r>
            <a:r>
              <a:rPr b="0" i="0" lang="en-US" sz="1950" u="none" cap="none" strike="noStrike">
                <a:solidFill>
                  <a:srgbClr val="B5B5B5"/>
                </a:solidFill>
                <a:latin typeface="Arial"/>
                <a:ea typeface="Arial"/>
                <a:cs typeface="Arial"/>
                <a:sym typeface="Arial"/>
              </a:rPr>
              <a:t>header. The origin API is untouched</a:t>
            </a:r>
            <a:endParaRPr b="0" i="0" sz="1950" u="none" cap="none" strike="noStrike">
              <a:solidFill>
                <a:schemeClr val="dk1"/>
              </a:solidFill>
              <a:latin typeface="Calibri"/>
              <a:ea typeface="Calibri"/>
              <a:cs typeface="Calibri"/>
              <a:sym typeface="Calibri"/>
            </a:endParaRPr>
          </a:p>
        </p:txBody>
      </p:sp>
      <p:sp>
        <p:nvSpPr>
          <p:cNvPr id="203" name="Google Shape;203;p8"/>
          <p:cNvSpPr/>
          <p:nvPr/>
        </p:nvSpPr>
        <p:spPr>
          <a:xfrm>
            <a:off x="1238203" y="6795054"/>
            <a:ext cx="800067" cy="37616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800"/>
              <a:buFont typeface="Space Mono"/>
              <a:buNone/>
            </a:pPr>
            <a:r>
              <a:rPr b="0" i="0" lang="en-US" sz="1800" u="none" cap="none" strike="noStrike">
                <a:solidFill>
                  <a:srgbClr val="8F8F8F"/>
                </a:solidFill>
                <a:latin typeface="Space Mono"/>
                <a:ea typeface="Space Mono"/>
                <a:cs typeface="Space Mono"/>
                <a:sym typeface="Space Mono"/>
              </a:rPr>
              <a:t>05</a:t>
            </a:r>
            <a:endParaRPr b="0" i="0" sz="1800" u="none" cap="none" strike="noStrike">
              <a:solidFill>
                <a:schemeClr val="dk1"/>
              </a:solidFill>
              <a:latin typeface="Calibri"/>
              <a:ea typeface="Calibri"/>
              <a:cs typeface="Calibri"/>
              <a:sym typeface="Calibri"/>
            </a:endParaRPr>
          </a:p>
        </p:txBody>
      </p:sp>
      <p:sp>
        <p:nvSpPr>
          <p:cNvPr id="204" name="Google Shape;204;p8"/>
          <p:cNvSpPr/>
          <p:nvPr/>
        </p:nvSpPr>
        <p:spPr>
          <a:xfrm>
            <a:off x="2266779" y="6719928"/>
            <a:ext cx="5101498" cy="880133"/>
          </a:xfrm>
          <a:prstGeom prst="rect">
            <a:avLst/>
          </a:prstGeom>
          <a:noFill/>
          <a:ln>
            <a:noFill/>
          </a:ln>
        </p:spPr>
        <p:txBody>
          <a:bodyPr anchorCtr="0" anchor="t" bIns="25400" lIns="25400" spcFirstLastPara="1" rIns="25400" wrap="square" tIns="25400">
            <a:normAutofit/>
          </a:bodyPr>
          <a:lstStyle/>
          <a:p>
            <a:pPr indent="0" lvl="0" marL="0" marR="0" rtl="0" algn="l">
              <a:lnSpc>
                <a:spcPct val="112080"/>
              </a:lnSpc>
              <a:spcBef>
                <a:spcPts val="0"/>
              </a:spcBef>
              <a:spcAft>
                <a:spcPts val="0"/>
              </a:spcAft>
              <a:buClr>
                <a:srgbClr val="FFFFFF"/>
              </a:buClr>
              <a:buSzPts val="2550"/>
              <a:buFont typeface="Arial"/>
              <a:buNone/>
            </a:pPr>
            <a:r>
              <a:rPr b="0" i="0" lang="en-US" sz="2550" u="none" cap="none" strike="noStrike">
                <a:solidFill>
                  <a:srgbClr val="FFFFFF"/>
                </a:solidFill>
                <a:latin typeface="Arial"/>
                <a:ea typeface="Arial"/>
                <a:cs typeface="Arial"/>
                <a:sym typeface="Arial"/>
              </a:rPr>
              <a:t>Gateway finds the receipt on-chain, serves 200</a:t>
            </a:r>
            <a:endParaRPr b="0" i="0" sz="2550" u="none" cap="none" strike="noStrike">
              <a:solidFill>
                <a:schemeClr val="dk1"/>
              </a:solidFill>
              <a:latin typeface="Calibri"/>
              <a:ea typeface="Calibri"/>
              <a:cs typeface="Calibri"/>
              <a:sym typeface="Calibri"/>
            </a:endParaRPr>
          </a:p>
        </p:txBody>
      </p:sp>
      <p:sp>
        <p:nvSpPr>
          <p:cNvPr id="205" name="Google Shape;205;p8"/>
          <p:cNvSpPr/>
          <p:nvPr/>
        </p:nvSpPr>
        <p:spPr>
          <a:xfrm>
            <a:off x="7524398" y="6788793"/>
            <a:ext cx="10477833" cy="384773"/>
          </a:xfrm>
          <a:prstGeom prst="rect">
            <a:avLst/>
          </a:prstGeom>
          <a:noFill/>
          <a:ln>
            <a:noFill/>
          </a:ln>
        </p:spPr>
        <p:txBody>
          <a:bodyPr anchorCtr="0" anchor="t" bIns="25400" lIns="25400" spcFirstLastPara="1" rIns="25400" wrap="square" tIns="25400">
            <a:normAutofit/>
          </a:bodyPr>
          <a:lstStyle/>
          <a:p>
            <a:pPr indent="0" lvl="0" marL="0" marR="0" rtl="0" algn="l">
              <a:lnSpc>
                <a:spcPct val="123069"/>
              </a:lnSpc>
              <a:spcBef>
                <a:spcPts val="0"/>
              </a:spcBef>
              <a:spcAft>
                <a:spcPts val="0"/>
              </a:spcAft>
              <a:buClr>
                <a:srgbClr val="B5B5B5"/>
              </a:buClr>
              <a:buSzPts val="1950"/>
              <a:buFont typeface="Arial"/>
              <a:buNone/>
            </a:pPr>
            <a:r>
              <a:rPr b="0" i="0" lang="en-US" sz="1950" u="none" cap="none" strike="noStrike">
                <a:solidFill>
                  <a:srgbClr val="B5B5B5"/>
                </a:solidFill>
                <a:latin typeface="Arial"/>
                <a:ea typeface="Arial"/>
                <a:cs typeface="Arial"/>
                <a:sym typeface="Arial"/>
              </a:rPr>
              <a:t>The gateway never holds funds, never signs, and cannot fake a payment</a:t>
            </a:r>
            <a:endParaRPr b="0" i="0" sz="1950" u="none" cap="none" strike="noStrike">
              <a:solidFill>
                <a:schemeClr val="dk1"/>
              </a:solidFill>
              <a:latin typeface="Calibri"/>
              <a:ea typeface="Calibri"/>
              <a:cs typeface="Calibri"/>
              <a:sym typeface="Calibri"/>
            </a:endParaRPr>
          </a:p>
        </p:txBody>
      </p:sp>
      <p:sp>
        <p:nvSpPr>
          <p:cNvPr id="206" name="Google Shape;206;p8"/>
          <p:cNvSpPr/>
          <p:nvPr/>
        </p:nvSpPr>
        <p:spPr>
          <a:xfrm>
            <a:off x="1238203" y="895745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0" i="0" lang="en-US" sz="1500" u="none" cap="none" strike="noStrike">
                <a:solidFill>
                  <a:srgbClr val="8F8F8F"/>
                </a:solidFill>
                <a:latin typeface="Space Mono"/>
                <a:ea typeface="Space Mono"/>
                <a:cs typeface="Space Mono"/>
                <a:sym typeface="Space Mono"/>
              </a:rPr>
              <a:t>08 / 13</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11" name="Shape 211"/>
        <p:cNvGrpSpPr/>
        <p:nvPr/>
      </p:nvGrpSpPr>
      <p:grpSpPr>
        <a:xfrm>
          <a:off x="0" y="0"/>
          <a:ext cx="0" cy="0"/>
          <a:chOff x="0" y="0"/>
          <a:chExt cx="0" cy="0"/>
        </a:xfrm>
      </p:grpSpPr>
      <p:sp>
        <p:nvSpPr>
          <p:cNvPr id="212" name="Google Shape;212;p9"/>
          <p:cNvSpPr/>
          <p:nvPr/>
        </p:nvSpPr>
        <p:spPr>
          <a:xfrm>
            <a:off x="1238203" y="104774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1" i="0" lang="en-US" sz="1500" u="none" cap="none" strike="noStrike">
                <a:solidFill>
                  <a:srgbClr val="8F8F8F"/>
                </a:solidFill>
                <a:latin typeface="Space Mono"/>
                <a:ea typeface="Space Mono"/>
                <a:cs typeface="Space Mono"/>
                <a:sym typeface="Space Mono"/>
              </a:rPr>
              <a:t>THE AGENT CLI</a:t>
            </a:r>
            <a:endParaRPr b="0" i="0" sz="1500" u="none" cap="none" strike="noStrike">
              <a:solidFill>
                <a:schemeClr val="dk1"/>
              </a:solidFill>
              <a:latin typeface="Calibri"/>
              <a:ea typeface="Calibri"/>
              <a:cs typeface="Calibri"/>
              <a:sym typeface="Calibri"/>
            </a:endParaRPr>
          </a:p>
        </p:txBody>
      </p:sp>
      <p:sp>
        <p:nvSpPr>
          <p:cNvPr id="213" name="Google Shape;213;p9"/>
          <p:cNvSpPr/>
          <p:nvPr/>
        </p:nvSpPr>
        <p:spPr>
          <a:xfrm>
            <a:off x="1238203" y="1914921"/>
            <a:ext cx="14668492" cy="645757"/>
          </a:xfrm>
          <a:prstGeom prst="rect">
            <a:avLst/>
          </a:prstGeom>
          <a:noFill/>
          <a:ln>
            <a:noFill/>
          </a:ln>
        </p:spPr>
        <p:txBody>
          <a:bodyPr anchorCtr="0" anchor="t" bIns="25400" lIns="25400" spcFirstLastPara="1" rIns="25400" wrap="square" tIns="25400">
            <a:normAutofit/>
          </a:bodyPr>
          <a:lstStyle/>
          <a:p>
            <a:pPr indent="0" lvl="0" marL="0" marR="0" rtl="0" algn="l">
              <a:lnSpc>
                <a:spcPct val="95165"/>
              </a:lnSpc>
              <a:spcBef>
                <a:spcPts val="0"/>
              </a:spcBef>
              <a:spcAft>
                <a:spcPts val="0"/>
              </a:spcAft>
              <a:buClr>
                <a:srgbClr val="FFFFFF"/>
              </a:buClr>
              <a:buSzPts val="4350"/>
              <a:buFont typeface="Arial"/>
              <a:buNone/>
            </a:pPr>
            <a:r>
              <a:rPr b="0" i="0" lang="en-US" sz="4350" u="none" cap="none" strike="noStrike">
                <a:solidFill>
                  <a:srgbClr val="FFFFFF"/>
                </a:solidFill>
                <a:latin typeface="Arial"/>
                <a:ea typeface="Arial"/>
                <a:cs typeface="Arial"/>
                <a:sym typeface="Arial"/>
              </a:rPr>
              <a:t>The whole flow is four commands.</a:t>
            </a:r>
            <a:endParaRPr b="0" i="0" sz="4350" u="none" cap="none" strike="noStrike">
              <a:solidFill>
                <a:schemeClr val="dk1"/>
              </a:solidFill>
              <a:latin typeface="Calibri"/>
              <a:ea typeface="Calibri"/>
              <a:cs typeface="Calibri"/>
              <a:sym typeface="Calibri"/>
            </a:endParaRPr>
          </a:p>
        </p:txBody>
      </p:sp>
      <p:sp>
        <p:nvSpPr>
          <p:cNvPr id="214" name="Google Shape;214;p9"/>
          <p:cNvSpPr/>
          <p:nvPr/>
        </p:nvSpPr>
        <p:spPr>
          <a:xfrm>
            <a:off x="1238203" y="3017839"/>
            <a:ext cx="8857487" cy="5354168"/>
          </a:xfrm>
          <a:prstGeom prst="roundRect">
            <a:avLst>
              <a:gd fmla="val 1067" name="adj"/>
            </a:avLst>
          </a:prstGeom>
          <a:solidFill>
            <a:srgbClr val="131313"/>
          </a:solid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
          <p:cNvSpPr/>
          <p:nvPr/>
        </p:nvSpPr>
        <p:spPr>
          <a:xfrm>
            <a:off x="1606397" y="3386229"/>
            <a:ext cx="390984" cy="419989"/>
          </a:xfrm>
          <a:prstGeom prst="rect">
            <a:avLst/>
          </a:prstGeom>
          <a:noFill/>
          <a:ln>
            <a:noFill/>
          </a:ln>
        </p:spPr>
        <p:txBody>
          <a:bodyPr anchorCtr="0" anchor="t" bIns="25400" lIns="25400" spcFirstLastPara="1" rIns="25400" wrap="square" tIns="25400">
            <a:normAutofit/>
          </a:bodyPr>
          <a:lstStyle/>
          <a:p>
            <a:pPr indent="0" lvl="0" marL="0" marR="0" rtl="0" algn="l">
              <a:lnSpc>
                <a:spcPct val="90913"/>
              </a:lnSpc>
              <a:spcBef>
                <a:spcPts val="0"/>
              </a:spcBef>
              <a:spcAft>
                <a:spcPts val="0"/>
              </a:spcAft>
              <a:buClr>
                <a:srgbClr val="4D4D4D"/>
              </a:buClr>
              <a:buSzPts val="2025"/>
              <a:buFont typeface="Space Mono"/>
              <a:buNone/>
            </a:pPr>
            <a:r>
              <a:rPr b="0" i="0" lang="en-US" sz="2025" u="none" cap="none" strike="noStrike">
                <a:solidFill>
                  <a:srgbClr val="4D4D4D"/>
                </a:solidFill>
                <a:latin typeface="Space Mono"/>
                <a:ea typeface="Space Mono"/>
                <a:cs typeface="Space Mono"/>
                <a:sym typeface="Space Mono"/>
              </a:rPr>
              <a:t>$</a:t>
            </a:r>
            <a:endParaRPr b="0" i="0" sz="2025" u="none" cap="none" strike="noStrike">
              <a:solidFill>
                <a:schemeClr val="dk1"/>
              </a:solidFill>
              <a:latin typeface="Calibri"/>
              <a:ea typeface="Calibri"/>
              <a:cs typeface="Calibri"/>
              <a:sym typeface="Calibri"/>
            </a:endParaRPr>
          </a:p>
        </p:txBody>
      </p:sp>
      <p:sp>
        <p:nvSpPr>
          <p:cNvPr id="216" name="Google Shape;216;p9"/>
          <p:cNvSpPr/>
          <p:nvPr/>
        </p:nvSpPr>
        <p:spPr>
          <a:xfrm>
            <a:off x="1921181" y="3386229"/>
            <a:ext cx="2942586" cy="419989"/>
          </a:xfrm>
          <a:prstGeom prst="rect">
            <a:avLst/>
          </a:prstGeom>
          <a:noFill/>
          <a:ln>
            <a:noFill/>
          </a:ln>
        </p:spPr>
        <p:txBody>
          <a:bodyPr anchorCtr="0" anchor="t" bIns="25400" lIns="25400" spcFirstLastPara="1" rIns="25400" wrap="square" tIns="25400">
            <a:normAutofit/>
          </a:bodyPr>
          <a:lstStyle/>
          <a:p>
            <a:pPr indent="0" lvl="0" marL="0" marR="0" rtl="0" algn="l">
              <a:lnSpc>
                <a:spcPct val="90913"/>
              </a:lnSpc>
              <a:spcBef>
                <a:spcPts val="0"/>
              </a:spcBef>
              <a:spcAft>
                <a:spcPts val="0"/>
              </a:spcAft>
              <a:buClr>
                <a:srgbClr val="FFFFFF"/>
              </a:buClr>
              <a:buSzPts val="2025"/>
              <a:buFont typeface="Space Mono"/>
              <a:buNone/>
            </a:pPr>
            <a:r>
              <a:rPr b="0" i="0" lang="en-US" sz="2025" u="none" cap="none" strike="noStrike">
                <a:solidFill>
                  <a:srgbClr val="FFFFFF"/>
                </a:solidFill>
                <a:latin typeface="Space Mono"/>
                <a:ea typeface="Space Mono"/>
                <a:cs typeface="Space Mono"/>
                <a:sym typeface="Space Mono"/>
              </a:rPr>
              <a:t>m402 deposit 5000</a:t>
            </a:r>
            <a:endParaRPr b="0" i="0" sz="2025" u="none" cap="none" strike="noStrike">
              <a:solidFill>
                <a:schemeClr val="dk1"/>
              </a:solidFill>
              <a:latin typeface="Calibri"/>
              <a:ea typeface="Calibri"/>
              <a:cs typeface="Calibri"/>
              <a:sym typeface="Calibri"/>
            </a:endParaRPr>
          </a:p>
        </p:txBody>
      </p:sp>
      <p:sp>
        <p:nvSpPr>
          <p:cNvPr id="217" name="Google Shape;217;p9"/>
          <p:cNvSpPr/>
          <p:nvPr/>
        </p:nvSpPr>
        <p:spPr>
          <a:xfrm>
            <a:off x="1606397" y="3809299"/>
            <a:ext cx="8933209" cy="320897"/>
          </a:xfrm>
          <a:prstGeom prst="rect">
            <a:avLst/>
          </a:prstGeom>
          <a:noFill/>
          <a:ln>
            <a:noFill/>
          </a:ln>
        </p:spPr>
        <p:txBody>
          <a:bodyPr anchorCtr="0" anchor="t" bIns="25400" lIns="25400" spcFirstLastPara="1" rIns="25400" wrap="square" tIns="25400">
            <a:normAutofit/>
          </a:bodyPr>
          <a:lstStyle/>
          <a:p>
            <a:pPr indent="0" lvl="0" marL="0" marR="0" rtl="0" algn="l">
              <a:lnSpc>
                <a:spcPct val="107588"/>
              </a:lnSpc>
              <a:spcBef>
                <a:spcPts val="0"/>
              </a:spcBef>
              <a:spcAft>
                <a:spcPts val="0"/>
              </a:spcAft>
              <a:buClr>
                <a:srgbClr val="8F8F8F"/>
              </a:buClr>
              <a:buSzPts val="1650"/>
              <a:buFont typeface="Outfit"/>
              <a:buNone/>
            </a:pPr>
            <a:r>
              <a:rPr b="0" i="0" lang="en-US" sz="1650" u="none" cap="none" strike="noStrike">
                <a:solidFill>
                  <a:srgbClr val="8F8F8F"/>
                </a:solidFill>
                <a:latin typeface="Outfit"/>
                <a:ea typeface="Outfit"/>
                <a:cs typeface="Outfit"/>
                <a:sym typeface="Outfit"/>
              </a:rPr>
              <a:t>NIGHT in, mNight credit out</a:t>
            </a:r>
            <a:endParaRPr b="0" i="0" sz="1650" u="none" cap="none" strike="noStrike">
              <a:solidFill>
                <a:schemeClr val="dk1"/>
              </a:solidFill>
              <a:latin typeface="Calibri"/>
              <a:ea typeface="Calibri"/>
              <a:cs typeface="Calibri"/>
              <a:sym typeface="Calibri"/>
            </a:endParaRPr>
          </a:p>
        </p:txBody>
      </p:sp>
      <p:sp>
        <p:nvSpPr>
          <p:cNvPr id="218" name="Google Shape;218;p9"/>
          <p:cNvSpPr/>
          <p:nvPr/>
        </p:nvSpPr>
        <p:spPr>
          <a:xfrm>
            <a:off x="1606397" y="4320897"/>
            <a:ext cx="390984" cy="419989"/>
          </a:xfrm>
          <a:prstGeom prst="rect">
            <a:avLst/>
          </a:prstGeom>
          <a:noFill/>
          <a:ln>
            <a:noFill/>
          </a:ln>
        </p:spPr>
        <p:txBody>
          <a:bodyPr anchorCtr="0" anchor="t" bIns="25400" lIns="25400" spcFirstLastPara="1" rIns="25400" wrap="square" tIns="25400">
            <a:normAutofit/>
          </a:bodyPr>
          <a:lstStyle/>
          <a:p>
            <a:pPr indent="0" lvl="0" marL="0" marR="0" rtl="0" algn="l">
              <a:lnSpc>
                <a:spcPct val="90913"/>
              </a:lnSpc>
              <a:spcBef>
                <a:spcPts val="0"/>
              </a:spcBef>
              <a:spcAft>
                <a:spcPts val="0"/>
              </a:spcAft>
              <a:buClr>
                <a:srgbClr val="4D4D4D"/>
              </a:buClr>
              <a:buSzPts val="2025"/>
              <a:buFont typeface="Space Mono"/>
              <a:buNone/>
            </a:pPr>
            <a:r>
              <a:rPr b="0" i="0" lang="en-US" sz="2025" u="none" cap="none" strike="noStrike">
                <a:solidFill>
                  <a:srgbClr val="4D4D4D"/>
                </a:solidFill>
                <a:latin typeface="Space Mono"/>
                <a:ea typeface="Space Mono"/>
                <a:cs typeface="Space Mono"/>
                <a:sym typeface="Space Mono"/>
              </a:rPr>
              <a:t>$</a:t>
            </a:r>
            <a:endParaRPr b="0" i="0" sz="2025" u="none" cap="none" strike="noStrike">
              <a:solidFill>
                <a:schemeClr val="dk1"/>
              </a:solidFill>
              <a:latin typeface="Calibri"/>
              <a:ea typeface="Calibri"/>
              <a:cs typeface="Calibri"/>
              <a:sym typeface="Calibri"/>
            </a:endParaRPr>
          </a:p>
        </p:txBody>
      </p:sp>
      <p:sp>
        <p:nvSpPr>
          <p:cNvPr id="219" name="Google Shape;219;p9"/>
          <p:cNvSpPr/>
          <p:nvPr/>
        </p:nvSpPr>
        <p:spPr>
          <a:xfrm>
            <a:off x="1921181" y="4320897"/>
            <a:ext cx="5712042" cy="419989"/>
          </a:xfrm>
          <a:prstGeom prst="rect">
            <a:avLst/>
          </a:prstGeom>
          <a:noFill/>
          <a:ln>
            <a:noFill/>
          </a:ln>
        </p:spPr>
        <p:txBody>
          <a:bodyPr anchorCtr="0" anchor="t" bIns="25400" lIns="25400" spcFirstLastPara="1" rIns="25400" wrap="square" tIns="25400">
            <a:normAutofit/>
          </a:bodyPr>
          <a:lstStyle/>
          <a:p>
            <a:pPr indent="0" lvl="0" marL="0" marR="0" rtl="0" algn="l">
              <a:lnSpc>
                <a:spcPct val="90913"/>
              </a:lnSpc>
              <a:spcBef>
                <a:spcPts val="0"/>
              </a:spcBef>
              <a:spcAft>
                <a:spcPts val="0"/>
              </a:spcAft>
              <a:buClr>
                <a:srgbClr val="FFFFFF"/>
              </a:buClr>
              <a:buSzPts val="2025"/>
              <a:buFont typeface="Space Mono"/>
              <a:buNone/>
            </a:pPr>
            <a:r>
              <a:rPr b="0" i="0" lang="en-US" sz="2025" u="none" cap="none" strike="noStrike">
                <a:solidFill>
                  <a:srgbClr val="FFFFFF"/>
                </a:solidFill>
                <a:latin typeface="Space Mono"/>
                <a:ea typeface="Space Mono"/>
                <a:cs typeface="Space Mono"/>
                <a:sym typeface="Space Mono"/>
              </a:rPr>
              <a:t>m402 call http://…/s/&lt;service-id&gt;</a:t>
            </a:r>
            <a:endParaRPr b="0" i="0" sz="2025" u="none" cap="none" strike="noStrike">
              <a:solidFill>
                <a:schemeClr val="dk1"/>
              </a:solidFill>
              <a:latin typeface="Calibri"/>
              <a:ea typeface="Calibri"/>
              <a:cs typeface="Calibri"/>
              <a:sym typeface="Calibri"/>
            </a:endParaRPr>
          </a:p>
        </p:txBody>
      </p:sp>
      <p:sp>
        <p:nvSpPr>
          <p:cNvPr id="220" name="Google Shape;220;p9"/>
          <p:cNvSpPr/>
          <p:nvPr/>
        </p:nvSpPr>
        <p:spPr>
          <a:xfrm>
            <a:off x="1606397" y="4743968"/>
            <a:ext cx="8933209" cy="320897"/>
          </a:xfrm>
          <a:prstGeom prst="rect">
            <a:avLst/>
          </a:prstGeom>
          <a:noFill/>
          <a:ln>
            <a:noFill/>
          </a:ln>
        </p:spPr>
        <p:txBody>
          <a:bodyPr anchorCtr="0" anchor="t" bIns="25400" lIns="25400" spcFirstLastPara="1" rIns="25400" wrap="square" tIns="25400">
            <a:normAutofit/>
          </a:bodyPr>
          <a:lstStyle/>
          <a:p>
            <a:pPr indent="0" lvl="0" marL="0" marR="0" rtl="0" algn="l">
              <a:lnSpc>
                <a:spcPct val="107588"/>
              </a:lnSpc>
              <a:spcBef>
                <a:spcPts val="0"/>
              </a:spcBef>
              <a:spcAft>
                <a:spcPts val="0"/>
              </a:spcAft>
              <a:buClr>
                <a:srgbClr val="8F8F8F"/>
              </a:buClr>
              <a:buSzPts val="1650"/>
              <a:buFont typeface="Outfit"/>
              <a:buNone/>
            </a:pPr>
            <a:r>
              <a:rPr b="0" i="0" lang="en-US" sz="1650" u="none" cap="none" strike="noStrike">
                <a:solidFill>
                  <a:srgbClr val="8F8F8F"/>
                </a:solidFill>
                <a:latin typeface="Outfit"/>
                <a:ea typeface="Outfit"/>
                <a:cs typeface="Outfit"/>
                <a:sym typeface="Outfit"/>
              </a:rPr>
              <a:t>402, prove, retry — the body lands on stdout</a:t>
            </a:r>
            <a:endParaRPr b="0" i="0" sz="1650" u="none" cap="none" strike="noStrike">
              <a:solidFill>
                <a:schemeClr val="dk1"/>
              </a:solidFill>
              <a:latin typeface="Calibri"/>
              <a:ea typeface="Calibri"/>
              <a:cs typeface="Calibri"/>
              <a:sym typeface="Calibri"/>
            </a:endParaRPr>
          </a:p>
        </p:txBody>
      </p:sp>
      <p:sp>
        <p:nvSpPr>
          <p:cNvPr id="221" name="Google Shape;221;p9"/>
          <p:cNvSpPr/>
          <p:nvPr/>
        </p:nvSpPr>
        <p:spPr>
          <a:xfrm>
            <a:off x="1606397" y="5255565"/>
            <a:ext cx="390984" cy="419989"/>
          </a:xfrm>
          <a:prstGeom prst="rect">
            <a:avLst/>
          </a:prstGeom>
          <a:noFill/>
          <a:ln>
            <a:noFill/>
          </a:ln>
        </p:spPr>
        <p:txBody>
          <a:bodyPr anchorCtr="0" anchor="t" bIns="25400" lIns="25400" spcFirstLastPara="1" rIns="25400" wrap="square" tIns="25400">
            <a:normAutofit/>
          </a:bodyPr>
          <a:lstStyle/>
          <a:p>
            <a:pPr indent="0" lvl="0" marL="0" marR="0" rtl="0" algn="l">
              <a:lnSpc>
                <a:spcPct val="90913"/>
              </a:lnSpc>
              <a:spcBef>
                <a:spcPts val="0"/>
              </a:spcBef>
              <a:spcAft>
                <a:spcPts val="0"/>
              </a:spcAft>
              <a:buClr>
                <a:srgbClr val="4D4D4D"/>
              </a:buClr>
              <a:buSzPts val="2025"/>
              <a:buFont typeface="Space Mono"/>
              <a:buNone/>
            </a:pPr>
            <a:r>
              <a:rPr b="0" i="0" lang="en-US" sz="2025" u="none" cap="none" strike="noStrike">
                <a:solidFill>
                  <a:srgbClr val="4D4D4D"/>
                </a:solidFill>
                <a:latin typeface="Space Mono"/>
                <a:ea typeface="Space Mono"/>
                <a:cs typeface="Space Mono"/>
                <a:sym typeface="Space Mono"/>
              </a:rPr>
              <a:t>$</a:t>
            </a:r>
            <a:endParaRPr b="0" i="0" sz="2025" u="none" cap="none" strike="noStrike">
              <a:solidFill>
                <a:schemeClr val="dk1"/>
              </a:solidFill>
              <a:latin typeface="Calibri"/>
              <a:ea typeface="Calibri"/>
              <a:cs typeface="Calibri"/>
              <a:sym typeface="Calibri"/>
            </a:endParaRPr>
          </a:p>
        </p:txBody>
      </p:sp>
      <p:sp>
        <p:nvSpPr>
          <p:cNvPr id="222" name="Google Shape;222;p9"/>
          <p:cNvSpPr/>
          <p:nvPr/>
        </p:nvSpPr>
        <p:spPr>
          <a:xfrm>
            <a:off x="1921181" y="5255565"/>
            <a:ext cx="6231328" cy="419989"/>
          </a:xfrm>
          <a:prstGeom prst="rect">
            <a:avLst/>
          </a:prstGeom>
          <a:noFill/>
          <a:ln>
            <a:noFill/>
          </a:ln>
        </p:spPr>
        <p:txBody>
          <a:bodyPr anchorCtr="0" anchor="t" bIns="25400" lIns="25400" spcFirstLastPara="1" rIns="25400" wrap="square" tIns="25400">
            <a:normAutofit/>
          </a:bodyPr>
          <a:lstStyle/>
          <a:p>
            <a:pPr indent="0" lvl="0" marL="0" marR="0" rtl="0" algn="l">
              <a:lnSpc>
                <a:spcPct val="90913"/>
              </a:lnSpc>
              <a:spcBef>
                <a:spcPts val="0"/>
              </a:spcBef>
              <a:spcAft>
                <a:spcPts val="0"/>
              </a:spcAft>
              <a:buClr>
                <a:srgbClr val="FFFFFF"/>
              </a:buClr>
              <a:buSzPts val="2025"/>
              <a:buFont typeface="Space Mono"/>
              <a:buNone/>
            </a:pPr>
            <a:r>
              <a:rPr b="0" i="0" lang="en-US" sz="2025" u="none" cap="none" strike="noStrike">
                <a:solidFill>
                  <a:srgbClr val="FFFFFF"/>
                </a:solidFill>
                <a:latin typeface="Space Mono"/>
                <a:ea typeface="Space Mono"/>
                <a:cs typeface="Space Mono"/>
                <a:sym typeface="Space Mono"/>
              </a:rPr>
              <a:t>m402 call …/s/&lt;service-id&gt; --dry-run</a:t>
            </a:r>
            <a:endParaRPr b="0" i="0" sz="2025" u="none" cap="none" strike="noStrike">
              <a:solidFill>
                <a:schemeClr val="dk1"/>
              </a:solidFill>
              <a:latin typeface="Calibri"/>
              <a:ea typeface="Calibri"/>
              <a:cs typeface="Calibri"/>
              <a:sym typeface="Calibri"/>
            </a:endParaRPr>
          </a:p>
        </p:txBody>
      </p:sp>
      <p:sp>
        <p:nvSpPr>
          <p:cNvPr id="223" name="Google Shape;223;p9"/>
          <p:cNvSpPr/>
          <p:nvPr/>
        </p:nvSpPr>
        <p:spPr>
          <a:xfrm>
            <a:off x="1606397" y="5678636"/>
            <a:ext cx="8933209" cy="320897"/>
          </a:xfrm>
          <a:prstGeom prst="rect">
            <a:avLst/>
          </a:prstGeom>
          <a:noFill/>
          <a:ln>
            <a:noFill/>
          </a:ln>
        </p:spPr>
        <p:txBody>
          <a:bodyPr anchorCtr="0" anchor="t" bIns="25400" lIns="25400" spcFirstLastPara="1" rIns="25400" wrap="square" tIns="25400">
            <a:normAutofit/>
          </a:bodyPr>
          <a:lstStyle/>
          <a:p>
            <a:pPr indent="0" lvl="0" marL="0" marR="0" rtl="0" algn="l">
              <a:lnSpc>
                <a:spcPct val="107588"/>
              </a:lnSpc>
              <a:spcBef>
                <a:spcPts val="0"/>
              </a:spcBef>
              <a:spcAft>
                <a:spcPts val="0"/>
              </a:spcAft>
              <a:buClr>
                <a:srgbClr val="8F8F8F"/>
              </a:buClr>
              <a:buSzPts val="1650"/>
              <a:buFont typeface="Outfit"/>
              <a:buNone/>
            </a:pPr>
            <a:r>
              <a:rPr b="0" i="0" lang="en-US" sz="1650" u="none" cap="none" strike="noStrike">
                <a:solidFill>
                  <a:srgbClr val="8F8F8F"/>
                </a:solidFill>
                <a:latin typeface="Outfit"/>
                <a:ea typeface="Outfit"/>
                <a:cs typeface="Outfit"/>
                <a:sym typeface="Outfit"/>
              </a:rPr>
              <a:t>See the price before paying it</a:t>
            </a:r>
            <a:endParaRPr b="0" i="0" sz="1650" u="none" cap="none" strike="noStrike">
              <a:solidFill>
                <a:schemeClr val="dk1"/>
              </a:solidFill>
              <a:latin typeface="Calibri"/>
              <a:ea typeface="Calibri"/>
              <a:cs typeface="Calibri"/>
              <a:sym typeface="Calibri"/>
            </a:endParaRPr>
          </a:p>
        </p:txBody>
      </p:sp>
      <p:sp>
        <p:nvSpPr>
          <p:cNvPr id="224" name="Google Shape;224;p9"/>
          <p:cNvSpPr/>
          <p:nvPr/>
        </p:nvSpPr>
        <p:spPr>
          <a:xfrm>
            <a:off x="1606397" y="6190234"/>
            <a:ext cx="390984" cy="419989"/>
          </a:xfrm>
          <a:prstGeom prst="rect">
            <a:avLst/>
          </a:prstGeom>
          <a:noFill/>
          <a:ln>
            <a:noFill/>
          </a:ln>
        </p:spPr>
        <p:txBody>
          <a:bodyPr anchorCtr="0" anchor="t" bIns="25400" lIns="25400" spcFirstLastPara="1" rIns="25400" wrap="square" tIns="25400">
            <a:normAutofit/>
          </a:bodyPr>
          <a:lstStyle/>
          <a:p>
            <a:pPr indent="0" lvl="0" marL="0" marR="0" rtl="0" algn="l">
              <a:lnSpc>
                <a:spcPct val="90913"/>
              </a:lnSpc>
              <a:spcBef>
                <a:spcPts val="0"/>
              </a:spcBef>
              <a:spcAft>
                <a:spcPts val="0"/>
              </a:spcAft>
              <a:buClr>
                <a:srgbClr val="4D4D4D"/>
              </a:buClr>
              <a:buSzPts val="2025"/>
              <a:buFont typeface="Space Mono"/>
              <a:buNone/>
            </a:pPr>
            <a:r>
              <a:rPr b="0" i="0" lang="en-US" sz="2025" u="none" cap="none" strike="noStrike">
                <a:solidFill>
                  <a:srgbClr val="4D4D4D"/>
                </a:solidFill>
                <a:latin typeface="Space Mono"/>
                <a:ea typeface="Space Mono"/>
                <a:cs typeface="Space Mono"/>
                <a:sym typeface="Space Mono"/>
              </a:rPr>
              <a:t>$</a:t>
            </a:r>
            <a:endParaRPr b="0" i="0" sz="2025" u="none" cap="none" strike="noStrike">
              <a:solidFill>
                <a:schemeClr val="dk1"/>
              </a:solidFill>
              <a:latin typeface="Calibri"/>
              <a:ea typeface="Calibri"/>
              <a:cs typeface="Calibri"/>
              <a:sym typeface="Calibri"/>
            </a:endParaRPr>
          </a:p>
        </p:txBody>
      </p:sp>
      <p:sp>
        <p:nvSpPr>
          <p:cNvPr id="225" name="Google Shape;225;p9"/>
          <p:cNvSpPr/>
          <p:nvPr/>
        </p:nvSpPr>
        <p:spPr>
          <a:xfrm>
            <a:off x="1921181" y="6190234"/>
            <a:ext cx="3808028" cy="419989"/>
          </a:xfrm>
          <a:prstGeom prst="rect">
            <a:avLst/>
          </a:prstGeom>
          <a:noFill/>
          <a:ln>
            <a:noFill/>
          </a:ln>
        </p:spPr>
        <p:txBody>
          <a:bodyPr anchorCtr="0" anchor="t" bIns="25400" lIns="25400" spcFirstLastPara="1" rIns="25400" wrap="square" tIns="25400">
            <a:normAutofit/>
          </a:bodyPr>
          <a:lstStyle/>
          <a:p>
            <a:pPr indent="0" lvl="0" marL="0" marR="0" rtl="0" algn="l">
              <a:lnSpc>
                <a:spcPct val="90913"/>
              </a:lnSpc>
              <a:spcBef>
                <a:spcPts val="0"/>
              </a:spcBef>
              <a:spcAft>
                <a:spcPts val="0"/>
              </a:spcAft>
              <a:buClr>
                <a:srgbClr val="FFFFFF"/>
              </a:buClr>
              <a:buSzPts val="2025"/>
              <a:buFont typeface="Space Mono"/>
              <a:buNone/>
            </a:pPr>
            <a:r>
              <a:rPr b="0" i="0" lang="en-US" sz="2025" u="none" cap="none" strike="noStrike">
                <a:solidFill>
                  <a:srgbClr val="FFFFFF"/>
                </a:solidFill>
                <a:latin typeface="Space Mono"/>
                <a:ea typeface="Space Mono"/>
                <a:cs typeface="Space Mono"/>
                <a:sym typeface="Space Mono"/>
              </a:rPr>
              <a:t>m402 redeem 1000 --yes</a:t>
            </a:r>
            <a:endParaRPr b="0" i="0" sz="2025" u="none" cap="none" strike="noStrike">
              <a:solidFill>
                <a:schemeClr val="dk1"/>
              </a:solidFill>
              <a:latin typeface="Calibri"/>
              <a:ea typeface="Calibri"/>
              <a:cs typeface="Calibri"/>
              <a:sym typeface="Calibri"/>
            </a:endParaRPr>
          </a:p>
        </p:txBody>
      </p:sp>
      <p:sp>
        <p:nvSpPr>
          <p:cNvPr id="226" name="Google Shape;226;p9"/>
          <p:cNvSpPr/>
          <p:nvPr/>
        </p:nvSpPr>
        <p:spPr>
          <a:xfrm>
            <a:off x="1606397" y="6613304"/>
            <a:ext cx="8933209" cy="320897"/>
          </a:xfrm>
          <a:prstGeom prst="rect">
            <a:avLst/>
          </a:prstGeom>
          <a:noFill/>
          <a:ln>
            <a:noFill/>
          </a:ln>
        </p:spPr>
        <p:txBody>
          <a:bodyPr anchorCtr="0" anchor="t" bIns="25400" lIns="25400" spcFirstLastPara="1" rIns="25400" wrap="square" tIns="25400">
            <a:normAutofit/>
          </a:bodyPr>
          <a:lstStyle/>
          <a:p>
            <a:pPr indent="0" lvl="0" marL="0" marR="0" rtl="0" algn="l">
              <a:lnSpc>
                <a:spcPct val="107588"/>
              </a:lnSpc>
              <a:spcBef>
                <a:spcPts val="0"/>
              </a:spcBef>
              <a:spcAft>
                <a:spcPts val="0"/>
              </a:spcAft>
              <a:buClr>
                <a:srgbClr val="8F8F8F"/>
              </a:buClr>
              <a:buSzPts val="1650"/>
              <a:buFont typeface="Outfit"/>
              <a:buNone/>
            </a:pPr>
            <a:r>
              <a:rPr b="0" i="0" lang="en-US" sz="1650" u="none" cap="none" strike="noStrike">
                <a:solidFill>
                  <a:srgbClr val="8F8F8F"/>
                </a:solidFill>
                <a:latin typeface="Outfit"/>
                <a:ea typeface="Outfit"/>
                <a:cs typeface="Outfit"/>
                <a:sym typeface="Outfit"/>
              </a:rPr>
              <a:t>Unspent credit back to the wallet's own address</a:t>
            </a:r>
            <a:endParaRPr b="0" i="0" sz="1650" u="none" cap="none" strike="noStrike">
              <a:solidFill>
                <a:schemeClr val="dk1"/>
              </a:solidFill>
              <a:latin typeface="Calibri"/>
              <a:ea typeface="Calibri"/>
              <a:cs typeface="Calibri"/>
              <a:sym typeface="Calibri"/>
            </a:endParaRPr>
          </a:p>
        </p:txBody>
      </p:sp>
      <p:sp>
        <p:nvSpPr>
          <p:cNvPr id="227" name="Google Shape;227;p9"/>
          <p:cNvSpPr/>
          <p:nvPr/>
        </p:nvSpPr>
        <p:spPr>
          <a:xfrm>
            <a:off x="10552802" y="3017839"/>
            <a:ext cx="6496899" cy="1645036"/>
          </a:xfrm>
          <a:prstGeom prst="roundRect">
            <a:avLst>
              <a:gd fmla="val 2316" name="adj"/>
            </a:avLst>
          </a:prstGeom>
          <a:solidFill>
            <a:srgbClr val="1313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9"/>
          <p:cNvSpPr/>
          <p:nvPr/>
        </p:nvSpPr>
        <p:spPr>
          <a:xfrm>
            <a:off x="10552802" y="4656615"/>
            <a:ext cx="6496899"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
          <p:cNvSpPr/>
          <p:nvPr/>
        </p:nvSpPr>
        <p:spPr>
          <a:xfrm>
            <a:off x="10552802" y="3017839"/>
            <a:ext cx="6496899" cy="18781"/>
          </a:xfrm>
          <a:prstGeom prst="rect">
            <a:avLst/>
          </a:prstGeom>
          <a:solidFill>
            <a:srgbClr val="0000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10552802" y="3017839"/>
            <a:ext cx="9525" cy="1645036"/>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p:nvPr/>
        </p:nvSpPr>
        <p:spPr>
          <a:xfrm>
            <a:off x="17043441" y="3017839"/>
            <a:ext cx="9525" cy="1645036"/>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
          <p:cNvSpPr/>
          <p:nvPr/>
        </p:nvSpPr>
        <p:spPr>
          <a:xfrm>
            <a:off x="10825719" y="3322352"/>
            <a:ext cx="6546171"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686FF"/>
              </a:buClr>
              <a:buSzPts val="1425"/>
              <a:buFont typeface="Space Mono"/>
              <a:buNone/>
            </a:pPr>
            <a:r>
              <a:rPr b="1" i="0" lang="en-US" sz="1425" u="none" cap="none" strike="noStrike">
                <a:solidFill>
                  <a:srgbClr val="8686FF"/>
                </a:solidFill>
                <a:latin typeface="Space Mono"/>
                <a:ea typeface="Space Mono"/>
                <a:cs typeface="Space Mono"/>
                <a:sym typeface="Space Mono"/>
              </a:rPr>
              <a:t>COMPOSABLE</a:t>
            </a:r>
            <a:endParaRPr b="0" i="0" sz="1425" u="none" cap="none" strike="noStrike">
              <a:solidFill>
                <a:schemeClr val="dk1"/>
              </a:solidFill>
              <a:latin typeface="Calibri"/>
              <a:ea typeface="Calibri"/>
              <a:cs typeface="Calibri"/>
              <a:sym typeface="Calibri"/>
            </a:endParaRPr>
          </a:p>
        </p:txBody>
      </p:sp>
      <p:sp>
        <p:nvSpPr>
          <p:cNvPr id="233" name="Google Shape;233;p9"/>
          <p:cNvSpPr/>
          <p:nvPr/>
        </p:nvSpPr>
        <p:spPr>
          <a:xfrm>
            <a:off x="10825719" y="3680471"/>
            <a:ext cx="6129597" cy="728512"/>
          </a:xfrm>
          <a:prstGeom prst="rect">
            <a:avLst/>
          </a:prstGeom>
          <a:noFill/>
          <a:ln>
            <a:noFill/>
          </a:ln>
        </p:spPr>
        <p:txBody>
          <a:bodyPr anchorCtr="0" anchor="t" bIns="25400" lIns="25400" spcFirstLastPara="1" rIns="25400" wrap="square" tIns="25400">
            <a:normAutofit/>
          </a:bodyPr>
          <a:lstStyle/>
          <a:p>
            <a:pPr indent="0" lvl="0" marL="0" marR="0" rtl="0" algn="l">
              <a:lnSpc>
                <a:spcPct val="128261"/>
              </a:lnSpc>
              <a:spcBef>
                <a:spcPts val="0"/>
              </a:spcBef>
              <a:spcAft>
                <a:spcPts val="0"/>
              </a:spcAft>
              <a:buClr>
                <a:srgbClr val="DCDCDC"/>
              </a:buClr>
              <a:buSzPts val="1875"/>
              <a:buFont typeface="Arial"/>
              <a:buNone/>
            </a:pPr>
            <a:r>
              <a:rPr b="0" i="0" lang="en-US" sz="1875" u="none" cap="none" strike="noStrike">
                <a:solidFill>
                  <a:srgbClr val="DCDCDC"/>
                </a:solidFill>
                <a:latin typeface="Arial"/>
                <a:ea typeface="Arial"/>
                <a:cs typeface="Arial"/>
                <a:sym typeface="Arial"/>
              </a:rPr>
              <a:t>The resource body is written unchanged to stdout, timings to stderr — </a:t>
            </a:r>
            <a:r>
              <a:rPr b="0" i="0" lang="en-US" sz="1875" u="none" cap="none" strike="noStrike">
                <a:solidFill>
                  <a:srgbClr val="FFFFFF"/>
                </a:solidFill>
                <a:latin typeface="Space Mono"/>
                <a:ea typeface="Space Mono"/>
                <a:cs typeface="Space Mono"/>
                <a:sym typeface="Space Mono"/>
              </a:rPr>
              <a:t>m402 call … | jq</a:t>
            </a:r>
            <a:endParaRPr b="0" i="0" sz="1875" u="none" cap="none" strike="noStrike">
              <a:solidFill>
                <a:schemeClr val="dk1"/>
              </a:solidFill>
              <a:latin typeface="Calibri"/>
              <a:ea typeface="Calibri"/>
              <a:cs typeface="Calibri"/>
              <a:sym typeface="Calibri"/>
            </a:endParaRPr>
          </a:p>
        </p:txBody>
      </p:sp>
      <p:sp>
        <p:nvSpPr>
          <p:cNvPr id="234" name="Google Shape;234;p9"/>
          <p:cNvSpPr/>
          <p:nvPr/>
        </p:nvSpPr>
        <p:spPr>
          <a:xfrm>
            <a:off x="10552802" y="4872405"/>
            <a:ext cx="6496899" cy="1645036"/>
          </a:xfrm>
          <a:prstGeom prst="roundRect">
            <a:avLst>
              <a:gd fmla="val 2316" name="adj"/>
            </a:avLst>
          </a:prstGeom>
          <a:solidFill>
            <a:srgbClr val="1313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9"/>
          <p:cNvSpPr/>
          <p:nvPr/>
        </p:nvSpPr>
        <p:spPr>
          <a:xfrm>
            <a:off x="10552802" y="6511181"/>
            <a:ext cx="6496899"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
          <p:cNvSpPr/>
          <p:nvPr/>
        </p:nvSpPr>
        <p:spPr>
          <a:xfrm>
            <a:off x="10552802" y="4872405"/>
            <a:ext cx="6496899" cy="18781"/>
          </a:xfrm>
          <a:prstGeom prst="rect">
            <a:avLst/>
          </a:prstGeom>
          <a:solidFill>
            <a:srgbClr val="00E6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p:nvPr/>
        </p:nvSpPr>
        <p:spPr>
          <a:xfrm>
            <a:off x="10552802" y="4872405"/>
            <a:ext cx="9525" cy="1645036"/>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
          <p:cNvSpPr/>
          <p:nvPr/>
        </p:nvSpPr>
        <p:spPr>
          <a:xfrm>
            <a:off x="17043441" y="4872405"/>
            <a:ext cx="9525" cy="1645036"/>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a:off x="10825719" y="5176918"/>
            <a:ext cx="6546171"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E6A0"/>
              </a:buClr>
              <a:buSzPts val="1425"/>
              <a:buFont typeface="Space Mono"/>
              <a:buNone/>
            </a:pPr>
            <a:r>
              <a:rPr b="1" i="0" lang="en-US" sz="1425" u="none" cap="none" strike="noStrike">
                <a:solidFill>
                  <a:srgbClr val="00E6A0"/>
                </a:solidFill>
                <a:latin typeface="Space Mono"/>
                <a:ea typeface="Space Mono"/>
                <a:cs typeface="Space Mono"/>
                <a:sym typeface="Space Mono"/>
              </a:rPr>
              <a:t>NEVER PAYS TWICE</a:t>
            </a:r>
            <a:endParaRPr b="0" i="0" sz="1425" u="none" cap="none" strike="noStrike">
              <a:solidFill>
                <a:schemeClr val="dk1"/>
              </a:solidFill>
              <a:latin typeface="Calibri"/>
              <a:ea typeface="Calibri"/>
              <a:cs typeface="Calibri"/>
              <a:sym typeface="Calibri"/>
            </a:endParaRPr>
          </a:p>
        </p:txBody>
      </p:sp>
      <p:sp>
        <p:nvSpPr>
          <p:cNvPr id="240" name="Google Shape;240;p9"/>
          <p:cNvSpPr/>
          <p:nvPr/>
        </p:nvSpPr>
        <p:spPr>
          <a:xfrm>
            <a:off x="10825719" y="5535037"/>
            <a:ext cx="6129597" cy="728512"/>
          </a:xfrm>
          <a:prstGeom prst="rect">
            <a:avLst/>
          </a:prstGeom>
          <a:noFill/>
          <a:ln>
            <a:noFill/>
          </a:ln>
        </p:spPr>
        <p:txBody>
          <a:bodyPr anchorCtr="0" anchor="t" bIns="25400" lIns="25400" spcFirstLastPara="1" rIns="25400" wrap="square" tIns="25400">
            <a:normAutofit/>
          </a:bodyPr>
          <a:lstStyle/>
          <a:p>
            <a:pPr indent="0" lvl="0" marL="0" marR="0" rtl="0" algn="l">
              <a:lnSpc>
                <a:spcPct val="128261"/>
              </a:lnSpc>
              <a:spcBef>
                <a:spcPts val="0"/>
              </a:spcBef>
              <a:spcAft>
                <a:spcPts val="0"/>
              </a:spcAft>
              <a:buClr>
                <a:srgbClr val="DCDCDC"/>
              </a:buClr>
              <a:buSzPts val="1875"/>
              <a:buFont typeface="Arial"/>
              <a:buNone/>
            </a:pPr>
            <a:r>
              <a:rPr b="0" i="0" lang="en-US" sz="1875" u="none" cap="none" strike="noStrike">
                <a:solidFill>
                  <a:srgbClr val="DCDCDC"/>
                </a:solidFill>
                <a:latin typeface="Arial"/>
                <a:ea typeface="Arial"/>
                <a:cs typeface="Arial"/>
                <a:sym typeface="Arial"/>
              </a:rPr>
              <a:t>The receipt secret is written to disk before the transaction is built, so an interrupted call resumes instead of re-paying</a:t>
            </a:r>
            <a:endParaRPr b="0" i="0" sz="1875" u="none" cap="none" strike="noStrike">
              <a:solidFill>
                <a:schemeClr val="dk1"/>
              </a:solidFill>
              <a:latin typeface="Calibri"/>
              <a:ea typeface="Calibri"/>
              <a:cs typeface="Calibri"/>
              <a:sym typeface="Calibri"/>
            </a:endParaRPr>
          </a:p>
        </p:txBody>
      </p:sp>
      <p:sp>
        <p:nvSpPr>
          <p:cNvPr id="241" name="Google Shape;241;p9"/>
          <p:cNvSpPr/>
          <p:nvPr/>
        </p:nvSpPr>
        <p:spPr>
          <a:xfrm>
            <a:off x="10552802" y="6726971"/>
            <a:ext cx="6496899" cy="1645036"/>
          </a:xfrm>
          <a:prstGeom prst="roundRect">
            <a:avLst>
              <a:gd fmla="val 2316" name="adj"/>
            </a:avLst>
          </a:prstGeom>
          <a:solidFill>
            <a:srgbClr val="1313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
          <p:cNvSpPr/>
          <p:nvPr/>
        </p:nvSpPr>
        <p:spPr>
          <a:xfrm>
            <a:off x="10552802" y="8365747"/>
            <a:ext cx="6496899"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a:off x="10552802" y="6726971"/>
            <a:ext cx="6496899" cy="18781"/>
          </a:xfrm>
          <a:prstGeom prst="rect">
            <a:avLst/>
          </a:prstGeom>
          <a:solidFill>
            <a:srgbClr val="0000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a:off x="10552802" y="6726971"/>
            <a:ext cx="9525" cy="1645036"/>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p:nvPr/>
        </p:nvSpPr>
        <p:spPr>
          <a:xfrm>
            <a:off x="17043441" y="6726971"/>
            <a:ext cx="9525" cy="1645036"/>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10825719" y="7031484"/>
            <a:ext cx="6546171"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686FF"/>
              </a:buClr>
              <a:buSzPts val="1425"/>
              <a:buFont typeface="Space Mono"/>
              <a:buNone/>
            </a:pPr>
            <a:r>
              <a:rPr b="1" i="0" lang="en-US" sz="1425" u="none" cap="none" strike="noStrike">
                <a:solidFill>
                  <a:srgbClr val="8686FF"/>
                </a:solidFill>
                <a:latin typeface="Space Mono"/>
                <a:ea typeface="Space Mono"/>
                <a:cs typeface="Space Mono"/>
                <a:sym typeface="Space Mono"/>
              </a:rPr>
              <a:t>LOCAL BY DEFAULT</a:t>
            </a:r>
            <a:endParaRPr b="0" i="0" sz="1425" u="none" cap="none" strike="noStrike">
              <a:solidFill>
                <a:schemeClr val="dk1"/>
              </a:solidFill>
              <a:latin typeface="Calibri"/>
              <a:ea typeface="Calibri"/>
              <a:cs typeface="Calibri"/>
              <a:sym typeface="Calibri"/>
            </a:endParaRPr>
          </a:p>
        </p:txBody>
      </p:sp>
      <p:sp>
        <p:nvSpPr>
          <p:cNvPr id="247" name="Google Shape;247;p9"/>
          <p:cNvSpPr/>
          <p:nvPr/>
        </p:nvSpPr>
        <p:spPr>
          <a:xfrm>
            <a:off x="10825719" y="7389602"/>
            <a:ext cx="6129597" cy="728512"/>
          </a:xfrm>
          <a:prstGeom prst="rect">
            <a:avLst/>
          </a:prstGeom>
          <a:noFill/>
          <a:ln>
            <a:noFill/>
          </a:ln>
        </p:spPr>
        <p:txBody>
          <a:bodyPr anchorCtr="0" anchor="t" bIns="25400" lIns="25400" spcFirstLastPara="1" rIns="25400" wrap="square" tIns="25400">
            <a:normAutofit/>
          </a:bodyPr>
          <a:lstStyle/>
          <a:p>
            <a:pPr indent="0" lvl="0" marL="0" marR="0" rtl="0" algn="l">
              <a:lnSpc>
                <a:spcPct val="128261"/>
              </a:lnSpc>
              <a:spcBef>
                <a:spcPts val="0"/>
              </a:spcBef>
              <a:spcAft>
                <a:spcPts val="0"/>
              </a:spcAft>
              <a:buClr>
                <a:srgbClr val="DCDCDC"/>
              </a:buClr>
              <a:buSzPts val="1875"/>
              <a:buFont typeface="Arial"/>
              <a:buNone/>
            </a:pPr>
            <a:r>
              <a:rPr b="0" i="0" lang="en-US" sz="1875" u="none" cap="none" strike="noStrike">
                <a:solidFill>
                  <a:srgbClr val="DCDCDC"/>
                </a:solidFill>
                <a:latin typeface="Arial"/>
                <a:ea typeface="Arial"/>
                <a:cs typeface="Arial"/>
                <a:sym typeface="Arial"/>
              </a:rPr>
              <a:t>Proving stays on loopback and redeem has no recipient argument to misdirect</a:t>
            </a:r>
            <a:endParaRPr b="0" i="0" sz="1875" u="none" cap="none" strike="noStrike">
              <a:solidFill>
                <a:schemeClr val="dk1"/>
              </a:solidFill>
              <a:latin typeface="Calibri"/>
              <a:ea typeface="Calibri"/>
              <a:cs typeface="Calibri"/>
              <a:sym typeface="Calibri"/>
            </a:endParaRPr>
          </a:p>
        </p:txBody>
      </p:sp>
      <p:sp>
        <p:nvSpPr>
          <p:cNvPr id="248" name="Google Shape;248;p9"/>
          <p:cNvSpPr/>
          <p:nvPr/>
        </p:nvSpPr>
        <p:spPr>
          <a:xfrm>
            <a:off x="1238203" y="895745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0" i="0" lang="en-US" sz="1500" u="none" cap="none" strike="noStrike">
                <a:solidFill>
                  <a:srgbClr val="8F8F8F"/>
                </a:solidFill>
                <a:latin typeface="Space Mono"/>
                <a:ea typeface="Space Mono"/>
                <a:cs typeface="Space Mono"/>
                <a:sym typeface="Space Mono"/>
              </a:rPr>
              <a:t>09 / 13</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53" name="Shape 253"/>
        <p:cNvGrpSpPr/>
        <p:nvPr/>
      </p:nvGrpSpPr>
      <p:grpSpPr>
        <a:xfrm>
          <a:off x="0" y="0"/>
          <a:ext cx="0" cy="0"/>
          <a:chOff x="0" y="0"/>
          <a:chExt cx="0" cy="0"/>
        </a:xfrm>
      </p:grpSpPr>
      <p:sp>
        <p:nvSpPr>
          <p:cNvPr id="254" name="Google Shape;254;p10"/>
          <p:cNvSpPr/>
          <p:nvPr/>
        </p:nvSpPr>
        <p:spPr>
          <a:xfrm>
            <a:off x="1238203" y="104774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1" i="0" lang="en-US" sz="1500" u="none" cap="none" strike="noStrike">
                <a:solidFill>
                  <a:srgbClr val="8F8F8F"/>
                </a:solidFill>
                <a:latin typeface="Space Mono"/>
                <a:ea typeface="Space Mono"/>
                <a:cs typeface="Space Mono"/>
                <a:sym typeface="Space Mono"/>
              </a:rPr>
              <a:t>GETTING OUT</a:t>
            </a:r>
            <a:endParaRPr b="0" i="0" sz="1500" u="none" cap="none" strike="noStrike">
              <a:solidFill>
                <a:schemeClr val="dk1"/>
              </a:solidFill>
              <a:latin typeface="Calibri"/>
              <a:ea typeface="Calibri"/>
              <a:cs typeface="Calibri"/>
              <a:sym typeface="Calibri"/>
            </a:endParaRPr>
          </a:p>
        </p:txBody>
      </p:sp>
      <p:sp>
        <p:nvSpPr>
          <p:cNvPr id="255" name="Google Shape;255;p10"/>
          <p:cNvSpPr/>
          <p:nvPr/>
        </p:nvSpPr>
        <p:spPr>
          <a:xfrm>
            <a:off x="1238203" y="2080845"/>
            <a:ext cx="15716100" cy="687600"/>
          </a:xfrm>
          <a:prstGeom prst="rect">
            <a:avLst/>
          </a:prstGeom>
          <a:noFill/>
          <a:ln>
            <a:noFill/>
          </a:ln>
        </p:spPr>
        <p:txBody>
          <a:bodyPr anchorCtr="0" anchor="t" bIns="25400" lIns="25400" spcFirstLastPara="1" rIns="25400" wrap="square" tIns="25400">
            <a:normAutofit/>
          </a:bodyPr>
          <a:lstStyle/>
          <a:p>
            <a:pPr indent="0" lvl="0" marL="0" marR="0" rtl="0" algn="l">
              <a:lnSpc>
                <a:spcPct val="96077"/>
              </a:lnSpc>
              <a:spcBef>
                <a:spcPts val="0"/>
              </a:spcBef>
              <a:spcAft>
                <a:spcPts val="0"/>
              </a:spcAft>
              <a:buClr>
                <a:srgbClr val="FFFFFF"/>
              </a:buClr>
              <a:buSzPts val="4650"/>
              <a:buFont typeface="Arial"/>
              <a:buNone/>
            </a:pPr>
            <a:r>
              <a:rPr b="0" i="0" lang="en-US" sz="4650" u="none" cap="none" strike="noStrike">
                <a:solidFill>
                  <a:srgbClr val="FFFFFF"/>
                </a:solidFill>
                <a:latin typeface="Arial"/>
                <a:ea typeface="Arial"/>
                <a:cs typeface="Arial"/>
                <a:sym typeface="Arial"/>
              </a:rPr>
              <a:t>mNight is a claim on NIGHT, and both sides can claim it back.</a:t>
            </a:r>
            <a:endParaRPr b="0" i="0" sz="4650" u="none" cap="none" strike="noStrike">
              <a:solidFill>
                <a:schemeClr val="dk1"/>
              </a:solidFill>
              <a:latin typeface="Calibri"/>
              <a:ea typeface="Calibri"/>
              <a:cs typeface="Calibri"/>
              <a:sym typeface="Calibri"/>
            </a:endParaRPr>
          </a:p>
        </p:txBody>
      </p:sp>
      <p:sp>
        <p:nvSpPr>
          <p:cNvPr id="256" name="Google Shape;256;p10"/>
          <p:cNvSpPr/>
          <p:nvPr/>
        </p:nvSpPr>
        <p:spPr>
          <a:xfrm>
            <a:off x="1238203" y="3759607"/>
            <a:ext cx="7791447" cy="2560140"/>
          </a:xfrm>
          <a:prstGeom prst="roundRect">
            <a:avLst>
              <a:gd fmla="val 1488" name="adj"/>
            </a:avLst>
          </a:prstGeom>
          <a:solidFill>
            <a:srgbClr val="1313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0"/>
          <p:cNvSpPr/>
          <p:nvPr/>
        </p:nvSpPr>
        <p:spPr>
          <a:xfrm>
            <a:off x="1238203" y="6313487"/>
            <a:ext cx="7791447"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0"/>
          <p:cNvSpPr/>
          <p:nvPr/>
        </p:nvSpPr>
        <p:spPr>
          <a:xfrm>
            <a:off x="1238203" y="3759607"/>
            <a:ext cx="7791447" cy="18781"/>
          </a:xfrm>
          <a:prstGeom prst="rect">
            <a:avLst/>
          </a:prstGeom>
          <a:solidFill>
            <a:srgbClr val="0000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0"/>
          <p:cNvSpPr/>
          <p:nvPr/>
        </p:nvSpPr>
        <p:spPr>
          <a:xfrm>
            <a:off x="1238203" y="3759607"/>
            <a:ext cx="9525" cy="256014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0"/>
          <p:cNvSpPr/>
          <p:nvPr/>
        </p:nvSpPr>
        <p:spPr>
          <a:xfrm>
            <a:off x="9023389" y="3759607"/>
            <a:ext cx="9525" cy="256014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0"/>
          <p:cNvSpPr/>
          <p:nvPr/>
        </p:nvSpPr>
        <p:spPr>
          <a:xfrm>
            <a:off x="1587322" y="4159299"/>
            <a:ext cx="7802530"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686FF"/>
              </a:buClr>
              <a:buSzPts val="1425"/>
              <a:buFont typeface="Space Mono"/>
              <a:buNone/>
            </a:pPr>
            <a:r>
              <a:rPr b="1" i="0" lang="en-US" sz="1425" u="none" cap="none" strike="noStrike">
                <a:solidFill>
                  <a:srgbClr val="8686FF"/>
                </a:solidFill>
                <a:latin typeface="Space Mono"/>
                <a:ea typeface="Space Mono"/>
                <a:cs typeface="Space Mono"/>
                <a:sym typeface="Space Mono"/>
              </a:rPr>
              <a:t>AGENT</a:t>
            </a:r>
            <a:endParaRPr b="0" i="0" sz="1425" u="none" cap="none" strike="noStrike">
              <a:solidFill>
                <a:schemeClr val="dk1"/>
              </a:solidFill>
              <a:latin typeface="Calibri"/>
              <a:ea typeface="Calibri"/>
              <a:cs typeface="Calibri"/>
              <a:sym typeface="Calibri"/>
            </a:endParaRPr>
          </a:p>
        </p:txBody>
      </p:sp>
      <p:sp>
        <p:nvSpPr>
          <p:cNvPr id="262" name="Google Shape;262;p10"/>
          <p:cNvSpPr/>
          <p:nvPr/>
        </p:nvSpPr>
        <p:spPr>
          <a:xfrm>
            <a:off x="1587322" y="4593619"/>
            <a:ext cx="7802530" cy="434270"/>
          </a:xfrm>
          <a:prstGeom prst="rect">
            <a:avLst/>
          </a:prstGeom>
          <a:noFill/>
          <a:ln>
            <a:noFill/>
          </a:ln>
        </p:spPr>
        <p:txBody>
          <a:bodyPr anchorCtr="0" anchor="t" bIns="25400" lIns="25400" spcFirstLastPara="1" rIns="25400" wrap="square" tIns="25400">
            <a:normAutofit/>
          </a:bodyPr>
          <a:lstStyle/>
          <a:p>
            <a:pPr indent="0" lvl="0" marL="0" marR="0" rtl="0" algn="l">
              <a:lnSpc>
                <a:spcPct val="113022"/>
              </a:lnSpc>
              <a:spcBef>
                <a:spcPts val="0"/>
              </a:spcBef>
              <a:spcAft>
                <a:spcPts val="0"/>
              </a:spcAft>
              <a:buClr>
                <a:srgbClr val="FFFFFF"/>
              </a:buClr>
              <a:buSzPts val="2400"/>
              <a:buFont typeface="Arial"/>
              <a:buNone/>
            </a:pPr>
            <a:r>
              <a:rPr b="0" i="0" lang="en-US" sz="2400" u="none" cap="none" strike="noStrike">
                <a:solidFill>
                  <a:srgbClr val="FFFFFF"/>
                </a:solidFill>
                <a:latin typeface="Arial"/>
                <a:ea typeface="Arial"/>
                <a:cs typeface="Arial"/>
                <a:sym typeface="Arial"/>
              </a:rPr>
              <a:t>Redeem unspent credit</a:t>
            </a:r>
            <a:endParaRPr b="0" i="0" sz="2400" u="none" cap="none" strike="noStrike">
              <a:solidFill>
                <a:schemeClr val="dk1"/>
              </a:solidFill>
              <a:latin typeface="Calibri"/>
              <a:ea typeface="Calibri"/>
              <a:cs typeface="Calibri"/>
              <a:sym typeface="Calibri"/>
            </a:endParaRPr>
          </a:p>
        </p:txBody>
      </p:sp>
      <p:sp>
        <p:nvSpPr>
          <p:cNvPr id="263" name="Google Shape;263;p10"/>
          <p:cNvSpPr/>
          <p:nvPr/>
        </p:nvSpPr>
        <p:spPr>
          <a:xfrm>
            <a:off x="1587322" y="5161169"/>
            <a:ext cx="7306005" cy="809507"/>
          </a:xfrm>
          <a:prstGeom prst="rect">
            <a:avLst/>
          </a:prstGeom>
          <a:noFill/>
          <a:ln>
            <a:noFill/>
          </a:ln>
        </p:spPr>
        <p:txBody>
          <a:bodyPr anchorCtr="0" anchor="t" bIns="25400" lIns="25400" spcFirstLastPara="1" rIns="25400" wrap="square" tIns="25400">
            <a:normAutofit/>
          </a:bodyPr>
          <a:lstStyle/>
          <a:p>
            <a:pPr indent="0" lvl="0" marL="0" marR="0" rtl="0" algn="l">
              <a:lnSpc>
                <a:spcPct val="131104"/>
              </a:lnSpc>
              <a:spcBef>
                <a:spcPts val="0"/>
              </a:spcBef>
              <a:spcAft>
                <a:spcPts val="0"/>
              </a:spcAft>
              <a:buClr>
                <a:srgbClr val="B5B5B5"/>
              </a:buClr>
              <a:buSzPts val="2025"/>
              <a:buFont typeface="Arial"/>
              <a:buNone/>
            </a:pPr>
            <a:r>
              <a:rPr b="0" i="0" lang="en-US" sz="2025" u="none" cap="none" strike="noStrike">
                <a:solidFill>
                  <a:srgbClr val="B5B5B5"/>
                </a:solidFill>
                <a:latin typeface="Arial"/>
                <a:ea typeface="Arial"/>
                <a:cs typeface="Arial"/>
                <a:sym typeface="Arial"/>
              </a:rPr>
              <a:t>Whatever mNight the agent did not spend goes back out of the vault as NIGHT. Deposits are not one-way.</a:t>
            </a:r>
            <a:endParaRPr b="0" i="0" sz="2025" u="none" cap="none" strike="noStrike">
              <a:solidFill>
                <a:schemeClr val="dk1"/>
              </a:solidFill>
              <a:latin typeface="Calibri"/>
              <a:ea typeface="Calibri"/>
              <a:cs typeface="Calibri"/>
              <a:sym typeface="Calibri"/>
            </a:endParaRPr>
          </a:p>
        </p:txBody>
      </p:sp>
      <p:sp>
        <p:nvSpPr>
          <p:cNvPr id="264" name="Google Shape;264;p10"/>
          <p:cNvSpPr/>
          <p:nvPr/>
        </p:nvSpPr>
        <p:spPr>
          <a:xfrm>
            <a:off x="9258157" y="3759607"/>
            <a:ext cx="7791544" cy="2560140"/>
          </a:xfrm>
          <a:prstGeom prst="roundRect">
            <a:avLst>
              <a:gd fmla="val 1488" name="adj"/>
            </a:avLst>
          </a:prstGeom>
          <a:solidFill>
            <a:srgbClr val="1313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
          <p:cNvSpPr/>
          <p:nvPr/>
        </p:nvSpPr>
        <p:spPr>
          <a:xfrm>
            <a:off x="9258157" y="6313487"/>
            <a:ext cx="7791544"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9258157" y="3759607"/>
            <a:ext cx="7791544" cy="18781"/>
          </a:xfrm>
          <a:prstGeom prst="rect">
            <a:avLst/>
          </a:prstGeom>
          <a:solidFill>
            <a:srgbClr val="00E6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
          <p:cNvSpPr/>
          <p:nvPr/>
        </p:nvSpPr>
        <p:spPr>
          <a:xfrm>
            <a:off x="9258157" y="3759607"/>
            <a:ext cx="9525" cy="256014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0"/>
          <p:cNvSpPr/>
          <p:nvPr/>
        </p:nvSpPr>
        <p:spPr>
          <a:xfrm>
            <a:off x="17043441" y="3759607"/>
            <a:ext cx="9525" cy="256014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0"/>
          <p:cNvSpPr/>
          <p:nvPr/>
        </p:nvSpPr>
        <p:spPr>
          <a:xfrm>
            <a:off x="9607276" y="4159299"/>
            <a:ext cx="7802637"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E6A0"/>
              </a:buClr>
              <a:buSzPts val="1425"/>
              <a:buFont typeface="Space Mono"/>
              <a:buNone/>
            </a:pPr>
            <a:r>
              <a:rPr b="1" i="0" lang="en-US" sz="1425" u="none" cap="none" strike="noStrike">
                <a:solidFill>
                  <a:srgbClr val="00E6A0"/>
                </a:solidFill>
                <a:latin typeface="Space Mono"/>
                <a:ea typeface="Space Mono"/>
                <a:cs typeface="Space Mono"/>
                <a:sym typeface="Space Mono"/>
              </a:rPr>
              <a:t>MERCHANT</a:t>
            </a:r>
            <a:endParaRPr b="0" i="0" sz="1425" u="none" cap="none" strike="noStrike">
              <a:solidFill>
                <a:schemeClr val="dk1"/>
              </a:solidFill>
              <a:latin typeface="Calibri"/>
              <a:ea typeface="Calibri"/>
              <a:cs typeface="Calibri"/>
              <a:sym typeface="Calibri"/>
            </a:endParaRPr>
          </a:p>
        </p:txBody>
      </p:sp>
      <p:sp>
        <p:nvSpPr>
          <p:cNvPr id="270" name="Google Shape;270;p10"/>
          <p:cNvSpPr/>
          <p:nvPr/>
        </p:nvSpPr>
        <p:spPr>
          <a:xfrm>
            <a:off x="9607276" y="4593619"/>
            <a:ext cx="7802637" cy="434270"/>
          </a:xfrm>
          <a:prstGeom prst="rect">
            <a:avLst/>
          </a:prstGeom>
          <a:noFill/>
          <a:ln>
            <a:noFill/>
          </a:ln>
        </p:spPr>
        <p:txBody>
          <a:bodyPr anchorCtr="0" anchor="t" bIns="25400" lIns="25400" spcFirstLastPara="1" rIns="25400" wrap="square" tIns="25400">
            <a:normAutofit/>
          </a:bodyPr>
          <a:lstStyle/>
          <a:p>
            <a:pPr indent="0" lvl="0" marL="0" marR="0" rtl="0" algn="l">
              <a:lnSpc>
                <a:spcPct val="113022"/>
              </a:lnSpc>
              <a:spcBef>
                <a:spcPts val="0"/>
              </a:spcBef>
              <a:spcAft>
                <a:spcPts val="0"/>
              </a:spcAft>
              <a:buClr>
                <a:srgbClr val="FFFFFF"/>
              </a:buClr>
              <a:buSzPts val="2400"/>
              <a:buFont typeface="Arial"/>
              <a:buNone/>
            </a:pPr>
            <a:r>
              <a:rPr b="0" i="0" lang="en-US" sz="2400" u="none" cap="none" strike="noStrike">
                <a:solidFill>
                  <a:srgbClr val="FFFFFF"/>
                </a:solidFill>
                <a:latin typeface="Arial"/>
                <a:ea typeface="Arial"/>
                <a:cs typeface="Arial"/>
                <a:sym typeface="Arial"/>
              </a:rPr>
              <a:t>Withdraw earnings</a:t>
            </a:r>
            <a:endParaRPr b="0" i="0" sz="2400" u="none" cap="none" strike="noStrike">
              <a:solidFill>
                <a:schemeClr val="dk1"/>
              </a:solidFill>
              <a:latin typeface="Calibri"/>
              <a:ea typeface="Calibri"/>
              <a:cs typeface="Calibri"/>
              <a:sym typeface="Calibri"/>
            </a:endParaRPr>
          </a:p>
        </p:txBody>
      </p:sp>
      <p:sp>
        <p:nvSpPr>
          <p:cNvPr id="271" name="Google Shape;271;p10"/>
          <p:cNvSpPr/>
          <p:nvPr/>
        </p:nvSpPr>
        <p:spPr>
          <a:xfrm>
            <a:off x="9607276" y="5161169"/>
            <a:ext cx="7306106" cy="809507"/>
          </a:xfrm>
          <a:prstGeom prst="rect">
            <a:avLst/>
          </a:prstGeom>
          <a:noFill/>
          <a:ln>
            <a:noFill/>
          </a:ln>
        </p:spPr>
        <p:txBody>
          <a:bodyPr anchorCtr="0" anchor="t" bIns="25400" lIns="25400" spcFirstLastPara="1" rIns="25400" wrap="square" tIns="25400">
            <a:normAutofit/>
          </a:bodyPr>
          <a:lstStyle/>
          <a:p>
            <a:pPr indent="0" lvl="0" marL="0" marR="0" rtl="0" algn="l">
              <a:lnSpc>
                <a:spcPct val="131104"/>
              </a:lnSpc>
              <a:spcBef>
                <a:spcPts val="0"/>
              </a:spcBef>
              <a:spcAft>
                <a:spcPts val="0"/>
              </a:spcAft>
              <a:buClr>
                <a:srgbClr val="FFFFFF"/>
              </a:buClr>
              <a:buSzPts val="2025"/>
              <a:buFont typeface="Space Mono"/>
              <a:buNone/>
            </a:pPr>
            <a:r>
              <a:rPr b="0" i="0" lang="en-US" sz="2025" u="none" cap="none" strike="noStrike">
                <a:solidFill>
                  <a:srgbClr val="FFFFFF"/>
                </a:solidFill>
                <a:latin typeface="Space Mono"/>
                <a:ea typeface="Space Mono"/>
                <a:cs typeface="Space Mono"/>
                <a:sym typeface="Space Mono"/>
              </a:rPr>
              <a:t>withdraw </a:t>
            </a:r>
            <a:r>
              <a:rPr b="0" i="0" lang="en-US" sz="2025" u="none" cap="none" strike="noStrike">
                <a:solidFill>
                  <a:srgbClr val="B5B5B5"/>
                </a:solidFill>
                <a:latin typeface="Arial"/>
                <a:ea typeface="Arial"/>
                <a:cs typeface="Arial"/>
                <a:sym typeface="Arial"/>
              </a:rPr>
              <a:t>pays the Lace address recorded at registration, out of the pooled NIGHT reserve. Merchants never handle mNight.</a:t>
            </a:r>
            <a:endParaRPr b="0" i="0" sz="2025" u="none" cap="none" strike="noStrike">
              <a:solidFill>
                <a:schemeClr val="dk1"/>
              </a:solidFill>
              <a:latin typeface="Calibri"/>
              <a:ea typeface="Calibri"/>
              <a:cs typeface="Calibri"/>
              <a:sym typeface="Calibri"/>
            </a:endParaRPr>
          </a:p>
        </p:txBody>
      </p:sp>
      <p:sp>
        <p:nvSpPr>
          <p:cNvPr id="272" name="Google Shape;272;p10"/>
          <p:cNvSpPr/>
          <p:nvPr/>
        </p:nvSpPr>
        <p:spPr>
          <a:xfrm>
            <a:off x="1238203" y="6853061"/>
            <a:ext cx="13735043" cy="895197"/>
          </a:xfrm>
          <a:prstGeom prst="rect">
            <a:avLst/>
          </a:prstGeom>
          <a:noFill/>
          <a:ln>
            <a:noFill/>
          </a:ln>
        </p:spPr>
        <p:txBody>
          <a:bodyPr anchorCtr="0" anchor="t" bIns="25400" lIns="25400" spcFirstLastPara="1" rIns="25400" wrap="square" tIns="25400">
            <a:normAutofit/>
          </a:bodyPr>
          <a:lstStyle/>
          <a:p>
            <a:pPr indent="0" lvl="0" marL="0" marR="0" rtl="0" algn="l">
              <a:lnSpc>
                <a:spcPct val="131664"/>
              </a:lnSpc>
              <a:spcBef>
                <a:spcPts val="0"/>
              </a:spcBef>
              <a:spcAft>
                <a:spcPts val="0"/>
              </a:spcAft>
              <a:buClr>
                <a:srgbClr val="B5B5B5"/>
              </a:buClr>
              <a:buSzPts val="2250"/>
              <a:buFont typeface="Arial"/>
              <a:buNone/>
            </a:pPr>
            <a:r>
              <a:rPr b="0" i="0" lang="en-US" sz="2250" u="none" cap="none" strike="noStrike">
                <a:solidFill>
                  <a:srgbClr val="B5B5B5"/>
                </a:solidFill>
                <a:latin typeface="Arial"/>
                <a:ea typeface="Arial"/>
                <a:cs typeface="Arial"/>
                <a:sym typeface="Arial"/>
              </a:rPr>
              <a:t>The private leg is the payment itself. Entering and leaving the vault are public NIGHT transfers, so the pool stays auditable — outstanding claims can never exceed the reserve.</a:t>
            </a:r>
            <a:endParaRPr b="0" i="0" sz="2250" u="none" cap="none" strike="noStrike">
              <a:solidFill>
                <a:schemeClr val="dk1"/>
              </a:solidFill>
              <a:latin typeface="Calibri"/>
              <a:ea typeface="Calibri"/>
              <a:cs typeface="Calibri"/>
              <a:sym typeface="Calibri"/>
            </a:endParaRPr>
          </a:p>
        </p:txBody>
      </p:sp>
      <p:sp>
        <p:nvSpPr>
          <p:cNvPr id="273" name="Google Shape;273;p10"/>
          <p:cNvSpPr/>
          <p:nvPr/>
        </p:nvSpPr>
        <p:spPr>
          <a:xfrm>
            <a:off x="1238203" y="895745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0" i="0" lang="en-US" sz="1500" u="none" cap="none" strike="noStrike">
                <a:solidFill>
                  <a:srgbClr val="8F8F8F"/>
                </a:solidFill>
                <a:latin typeface="Space Mono"/>
                <a:ea typeface="Space Mono"/>
                <a:cs typeface="Space Mono"/>
                <a:sym typeface="Space Mono"/>
              </a:rPr>
              <a:t>10 / 13</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78" name="Shape 278"/>
        <p:cNvGrpSpPr/>
        <p:nvPr/>
      </p:nvGrpSpPr>
      <p:grpSpPr>
        <a:xfrm>
          <a:off x="0" y="0"/>
          <a:ext cx="0" cy="0"/>
          <a:chOff x="0" y="0"/>
          <a:chExt cx="0" cy="0"/>
        </a:xfrm>
      </p:grpSpPr>
      <p:sp>
        <p:nvSpPr>
          <p:cNvPr id="279" name="Google Shape;279;p11"/>
          <p:cNvSpPr/>
          <p:nvPr/>
        </p:nvSpPr>
        <p:spPr>
          <a:xfrm>
            <a:off x="1238203" y="104774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1" i="0" lang="en-US" sz="1500" u="none" cap="none" strike="noStrike">
                <a:solidFill>
                  <a:srgbClr val="8F8F8F"/>
                </a:solidFill>
                <a:latin typeface="Space Mono"/>
                <a:ea typeface="Space Mono"/>
                <a:cs typeface="Space Mono"/>
                <a:sym typeface="Space Mono"/>
              </a:rPr>
              <a:t>WHERE IT STANDS</a:t>
            </a:r>
            <a:endParaRPr b="0" i="0" sz="1500" u="none" cap="none" strike="noStrike">
              <a:solidFill>
                <a:schemeClr val="dk1"/>
              </a:solidFill>
              <a:latin typeface="Calibri"/>
              <a:ea typeface="Calibri"/>
              <a:cs typeface="Calibri"/>
              <a:sym typeface="Calibri"/>
            </a:endParaRPr>
          </a:p>
        </p:txBody>
      </p:sp>
      <p:sp>
        <p:nvSpPr>
          <p:cNvPr id="280" name="Google Shape;280;p11"/>
          <p:cNvSpPr/>
          <p:nvPr/>
        </p:nvSpPr>
        <p:spPr>
          <a:xfrm>
            <a:off x="1238203" y="2300135"/>
            <a:ext cx="13735043" cy="1337147"/>
          </a:xfrm>
          <a:prstGeom prst="rect">
            <a:avLst/>
          </a:prstGeom>
          <a:noFill/>
          <a:ln>
            <a:noFill/>
          </a:ln>
        </p:spPr>
        <p:txBody>
          <a:bodyPr anchorCtr="0" anchor="t" bIns="25400" lIns="25400" spcFirstLastPara="1" rIns="25400" wrap="square" tIns="25400">
            <a:normAutofit/>
          </a:bodyPr>
          <a:lstStyle/>
          <a:p>
            <a:pPr indent="0" lvl="0" marL="0" marR="0" rtl="0" algn="l">
              <a:lnSpc>
                <a:spcPct val="96077"/>
              </a:lnSpc>
              <a:spcBef>
                <a:spcPts val="0"/>
              </a:spcBef>
              <a:spcAft>
                <a:spcPts val="0"/>
              </a:spcAft>
              <a:buClr>
                <a:srgbClr val="FFFFFF"/>
              </a:buClr>
              <a:buSzPts val="4650"/>
              <a:buFont typeface="Arial"/>
              <a:buNone/>
            </a:pPr>
            <a:r>
              <a:rPr b="0" i="0" lang="en-US" sz="4650" u="none" cap="none" strike="noStrike">
                <a:solidFill>
                  <a:srgbClr val="FFFFFF"/>
                </a:solidFill>
                <a:latin typeface="Arial"/>
                <a:ea typeface="Arial"/>
                <a:cs typeface="Arial"/>
                <a:sym typeface="Arial"/>
              </a:rPr>
              <a:t>The happy path runs end to end. Everything else is named, not hidden.</a:t>
            </a:r>
            <a:endParaRPr b="0" i="0" sz="4650" u="none" cap="none" strike="noStrike">
              <a:solidFill>
                <a:schemeClr val="dk1"/>
              </a:solidFill>
              <a:latin typeface="Calibri"/>
              <a:ea typeface="Calibri"/>
              <a:cs typeface="Calibri"/>
              <a:sym typeface="Calibri"/>
            </a:endParaRPr>
          </a:p>
        </p:txBody>
      </p:sp>
      <p:sp>
        <p:nvSpPr>
          <p:cNvPr id="281" name="Google Shape;281;p11"/>
          <p:cNvSpPr/>
          <p:nvPr/>
        </p:nvSpPr>
        <p:spPr>
          <a:xfrm>
            <a:off x="1238203" y="4056295"/>
            <a:ext cx="7791447" cy="3930596"/>
          </a:xfrm>
          <a:prstGeom prst="roundRect">
            <a:avLst>
              <a:gd fmla="val 969" name="adj"/>
            </a:avLst>
          </a:prstGeom>
          <a:solidFill>
            <a:srgbClr val="1313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1"/>
          <p:cNvSpPr/>
          <p:nvPr/>
        </p:nvSpPr>
        <p:spPr>
          <a:xfrm>
            <a:off x="1238203" y="7980630"/>
            <a:ext cx="7791447"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1"/>
          <p:cNvSpPr/>
          <p:nvPr/>
        </p:nvSpPr>
        <p:spPr>
          <a:xfrm>
            <a:off x="1238203" y="4056295"/>
            <a:ext cx="7791447" cy="18781"/>
          </a:xfrm>
          <a:prstGeom prst="rect">
            <a:avLst/>
          </a:prstGeom>
          <a:solidFill>
            <a:srgbClr val="00E6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1"/>
          <p:cNvSpPr/>
          <p:nvPr/>
        </p:nvSpPr>
        <p:spPr>
          <a:xfrm>
            <a:off x="1238203" y="4056295"/>
            <a:ext cx="9525" cy="3930596"/>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1"/>
          <p:cNvSpPr/>
          <p:nvPr/>
        </p:nvSpPr>
        <p:spPr>
          <a:xfrm>
            <a:off x="9023389" y="4056295"/>
            <a:ext cx="9525" cy="3930596"/>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1"/>
          <p:cNvSpPr/>
          <p:nvPr/>
        </p:nvSpPr>
        <p:spPr>
          <a:xfrm>
            <a:off x="1587322" y="4455986"/>
            <a:ext cx="7802530"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E6A0"/>
              </a:buClr>
              <a:buSzPts val="1425"/>
              <a:buFont typeface="Space Mono"/>
              <a:buNone/>
            </a:pPr>
            <a:r>
              <a:rPr b="1" i="0" lang="en-US" sz="1425" u="none" cap="none" strike="noStrike">
                <a:solidFill>
                  <a:srgbClr val="00E6A0"/>
                </a:solidFill>
                <a:latin typeface="Space Mono"/>
                <a:ea typeface="Space Mono"/>
                <a:cs typeface="Space Mono"/>
                <a:sym typeface="Space Mono"/>
              </a:rPr>
              <a:t>WORKING</a:t>
            </a:r>
            <a:endParaRPr b="0" i="0" sz="1425" u="none" cap="none" strike="noStrike">
              <a:solidFill>
                <a:schemeClr val="dk1"/>
              </a:solidFill>
              <a:latin typeface="Calibri"/>
              <a:ea typeface="Calibri"/>
              <a:cs typeface="Calibri"/>
              <a:sym typeface="Calibri"/>
            </a:endParaRPr>
          </a:p>
        </p:txBody>
      </p:sp>
      <p:sp>
        <p:nvSpPr>
          <p:cNvPr id="287" name="Google Shape;287;p11"/>
          <p:cNvSpPr/>
          <p:nvPr/>
        </p:nvSpPr>
        <p:spPr>
          <a:xfrm>
            <a:off x="1587322" y="4909381"/>
            <a:ext cx="7802530" cy="423804"/>
          </a:xfrm>
          <a:prstGeom prst="rect">
            <a:avLst/>
          </a:prstGeom>
          <a:noFill/>
          <a:ln>
            <a:noFill/>
          </a:ln>
        </p:spPr>
        <p:txBody>
          <a:bodyPr anchorCtr="0" anchor="t" bIns="25400" lIns="25400" spcFirstLastPara="1" rIns="25400" wrap="square" tIns="25400">
            <a:normAutofit/>
          </a:bodyPr>
          <a:lstStyle/>
          <a:p>
            <a:pPr indent="0" lvl="0" marL="0" marR="0" rtl="0" algn="l">
              <a:lnSpc>
                <a:spcPct val="131104"/>
              </a:lnSpc>
              <a:spcBef>
                <a:spcPts val="0"/>
              </a:spcBef>
              <a:spcAft>
                <a:spcPts val="0"/>
              </a:spcAft>
              <a:buClr>
                <a:srgbClr val="DCDCDC"/>
              </a:buClr>
              <a:buSzPts val="2025"/>
              <a:buFont typeface="Arial"/>
              <a:buNone/>
            </a:pPr>
            <a:r>
              <a:rPr b="0" i="0" lang="en-US" sz="2025" u="none" cap="none" strike="noStrike">
                <a:solidFill>
                  <a:srgbClr val="DCDCDC"/>
                </a:solidFill>
                <a:latin typeface="Arial"/>
                <a:ea typeface="Arial"/>
                <a:cs typeface="Arial"/>
                <a:sym typeface="Arial"/>
              </a:rPr>
              <a:t>Vault contract: registerService, deposit, pay, redeem, withdraw</a:t>
            </a:r>
            <a:endParaRPr b="0" i="0" sz="2025" u="none" cap="none" strike="noStrike">
              <a:solidFill>
                <a:schemeClr val="dk1"/>
              </a:solidFill>
              <a:latin typeface="Calibri"/>
              <a:ea typeface="Calibri"/>
              <a:cs typeface="Calibri"/>
              <a:sym typeface="Calibri"/>
            </a:endParaRPr>
          </a:p>
        </p:txBody>
      </p:sp>
      <p:sp>
        <p:nvSpPr>
          <p:cNvPr id="288" name="Google Shape;288;p11"/>
          <p:cNvSpPr/>
          <p:nvPr/>
        </p:nvSpPr>
        <p:spPr>
          <a:xfrm>
            <a:off x="1587322" y="5485540"/>
            <a:ext cx="7802530" cy="423804"/>
          </a:xfrm>
          <a:prstGeom prst="rect">
            <a:avLst/>
          </a:prstGeom>
          <a:noFill/>
          <a:ln>
            <a:noFill/>
          </a:ln>
        </p:spPr>
        <p:txBody>
          <a:bodyPr anchorCtr="0" anchor="t" bIns="25400" lIns="25400" spcFirstLastPara="1" rIns="25400" wrap="square" tIns="25400">
            <a:normAutofit/>
          </a:bodyPr>
          <a:lstStyle/>
          <a:p>
            <a:pPr indent="0" lvl="0" marL="0" marR="0" rtl="0" algn="l">
              <a:lnSpc>
                <a:spcPct val="131104"/>
              </a:lnSpc>
              <a:spcBef>
                <a:spcPts val="0"/>
              </a:spcBef>
              <a:spcAft>
                <a:spcPts val="0"/>
              </a:spcAft>
              <a:buClr>
                <a:srgbClr val="DCDCDC"/>
              </a:buClr>
              <a:buSzPts val="2025"/>
              <a:buFont typeface="Arial"/>
              <a:buNone/>
            </a:pPr>
            <a:r>
              <a:rPr b="0" i="0" lang="en-US" sz="2025" u="none" cap="none" strike="noStrike">
                <a:solidFill>
                  <a:srgbClr val="DCDCDC"/>
                </a:solidFill>
                <a:latin typeface="Arial"/>
                <a:ea typeface="Arial"/>
                <a:cs typeface="Arial"/>
                <a:sym typeface="Arial"/>
              </a:rPr>
              <a:t>Gateway proxy and indexer watcher</a:t>
            </a:r>
            <a:endParaRPr b="0" i="0" sz="2025" u="none" cap="none" strike="noStrike">
              <a:solidFill>
                <a:schemeClr val="dk1"/>
              </a:solidFill>
              <a:latin typeface="Calibri"/>
              <a:ea typeface="Calibri"/>
              <a:cs typeface="Calibri"/>
              <a:sym typeface="Calibri"/>
            </a:endParaRPr>
          </a:p>
        </p:txBody>
      </p:sp>
      <p:sp>
        <p:nvSpPr>
          <p:cNvPr id="289" name="Google Shape;289;p11"/>
          <p:cNvSpPr/>
          <p:nvPr/>
        </p:nvSpPr>
        <p:spPr>
          <a:xfrm>
            <a:off x="1587322" y="6061699"/>
            <a:ext cx="7802530" cy="423804"/>
          </a:xfrm>
          <a:prstGeom prst="rect">
            <a:avLst/>
          </a:prstGeom>
          <a:noFill/>
          <a:ln>
            <a:noFill/>
          </a:ln>
        </p:spPr>
        <p:txBody>
          <a:bodyPr anchorCtr="0" anchor="t" bIns="25400" lIns="25400" spcFirstLastPara="1" rIns="25400" wrap="square" tIns="25400">
            <a:normAutofit/>
          </a:bodyPr>
          <a:lstStyle/>
          <a:p>
            <a:pPr indent="0" lvl="0" marL="0" marR="0" rtl="0" algn="l">
              <a:lnSpc>
                <a:spcPct val="131104"/>
              </a:lnSpc>
              <a:spcBef>
                <a:spcPts val="0"/>
              </a:spcBef>
              <a:spcAft>
                <a:spcPts val="0"/>
              </a:spcAft>
              <a:buClr>
                <a:srgbClr val="DCDCDC"/>
              </a:buClr>
              <a:buSzPts val="2025"/>
              <a:buFont typeface="Arial"/>
              <a:buNone/>
            </a:pPr>
            <a:r>
              <a:rPr b="0" i="0" lang="en-US" sz="2025" u="none" cap="none" strike="noStrike">
                <a:solidFill>
                  <a:srgbClr val="DCDCDC"/>
                </a:solidFill>
                <a:latin typeface="Arial"/>
                <a:ea typeface="Arial"/>
                <a:cs typeface="Arial"/>
                <a:sym typeface="Arial"/>
              </a:rPr>
              <a:t>CLI: </a:t>
            </a:r>
            <a:r>
              <a:rPr b="0" i="0" lang="en-US" sz="2025" u="none" cap="none" strike="noStrike">
                <a:solidFill>
                  <a:srgbClr val="FFFFFF"/>
                </a:solidFill>
                <a:latin typeface="Space Mono"/>
                <a:ea typeface="Space Mono"/>
                <a:cs typeface="Space Mono"/>
                <a:sym typeface="Space Mono"/>
              </a:rPr>
              <a:t>deposit</a:t>
            </a:r>
            <a:r>
              <a:rPr b="0" i="0" lang="en-US" sz="2025" u="none" cap="none" strike="noStrike">
                <a:solidFill>
                  <a:srgbClr val="DCDCDC"/>
                </a:solidFill>
                <a:latin typeface="Arial"/>
                <a:ea typeface="Arial"/>
                <a:cs typeface="Arial"/>
                <a:sym typeface="Arial"/>
              </a:rPr>
              <a:t>, </a:t>
            </a:r>
            <a:r>
              <a:rPr b="0" i="0" lang="en-US" sz="2025" u="none" cap="none" strike="noStrike">
                <a:solidFill>
                  <a:srgbClr val="FFFFFF"/>
                </a:solidFill>
                <a:latin typeface="Space Mono"/>
                <a:ea typeface="Space Mono"/>
                <a:cs typeface="Space Mono"/>
                <a:sym typeface="Space Mono"/>
              </a:rPr>
              <a:t>call</a:t>
            </a:r>
            <a:r>
              <a:rPr b="0" i="0" lang="en-US" sz="2025" u="none" cap="none" strike="noStrike">
                <a:solidFill>
                  <a:srgbClr val="DCDCDC"/>
                </a:solidFill>
                <a:latin typeface="Arial"/>
                <a:ea typeface="Arial"/>
                <a:cs typeface="Arial"/>
                <a:sym typeface="Arial"/>
              </a:rPr>
              <a:t>, </a:t>
            </a:r>
            <a:r>
              <a:rPr b="0" i="0" lang="en-US" sz="2025" u="none" cap="none" strike="noStrike">
                <a:solidFill>
                  <a:srgbClr val="FFFFFF"/>
                </a:solidFill>
                <a:latin typeface="Space Mono"/>
                <a:ea typeface="Space Mono"/>
                <a:cs typeface="Space Mono"/>
                <a:sym typeface="Space Mono"/>
              </a:rPr>
              <a:t>redeem</a:t>
            </a:r>
            <a:endParaRPr b="0" i="0" sz="2025" u="none" cap="none" strike="noStrike">
              <a:solidFill>
                <a:schemeClr val="dk1"/>
              </a:solidFill>
              <a:latin typeface="Calibri"/>
              <a:ea typeface="Calibri"/>
              <a:cs typeface="Calibri"/>
              <a:sym typeface="Calibri"/>
            </a:endParaRPr>
          </a:p>
        </p:txBody>
      </p:sp>
      <p:sp>
        <p:nvSpPr>
          <p:cNvPr id="290" name="Google Shape;290;p11"/>
          <p:cNvSpPr/>
          <p:nvPr/>
        </p:nvSpPr>
        <p:spPr>
          <a:xfrm>
            <a:off x="1587322" y="6637858"/>
            <a:ext cx="7802530" cy="423804"/>
          </a:xfrm>
          <a:prstGeom prst="rect">
            <a:avLst/>
          </a:prstGeom>
          <a:noFill/>
          <a:ln>
            <a:noFill/>
          </a:ln>
        </p:spPr>
        <p:txBody>
          <a:bodyPr anchorCtr="0" anchor="t" bIns="25400" lIns="25400" spcFirstLastPara="1" rIns="25400" wrap="square" tIns="25400">
            <a:normAutofit/>
          </a:bodyPr>
          <a:lstStyle/>
          <a:p>
            <a:pPr indent="0" lvl="0" marL="0" marR="0" rtl="0" algn="l">
              <a:lnSpc>
                <a:spcPct val="131104"/>
              </a:lnSpc>
              <a:spcBef>
                <a:spcPts val="0"/>
              </a:spcBef>
              <a:spcAft>
                <a:spcPts val="0"/>
              </a:spcAft>
              <a:buClr>
                <a:srgbClr val="DCDCDC"/>
              </a:buClr>
              <a:buSzPts val="2025"/>
              <a:buFont typeface="Arial"/>
              <a:buNone/>
            </a:pPr>
            <a:r>
              <a:rPr b="0" i="0" lang="en-US" sz="2025" u="none" cap="none" strike="noStrike">
                <a:solidFill>
                  <a:srgbClr val="DCDCDC"/>
                </a:solidFill>
                <a:latin typeface="Arial"/>
                <a:ea typeface="Arial"/>
                <a:cs typeface="Arial"/>
                <a:sym typeface="Arial"/>
              </a:rPr>
              <a:t>Marketplace registration and explorer</a:t>
            </a:r>
            <a:endParaRPr b="0" i="0" sz="2025" u="none" cap="none" strike="noStrike">
              <a:solidFill>
                <a:schemeClr val="dk1"/>
              </a:solidFill>
              <a:latin typeface="Calibri"/>
              <a:ea typeface="Calibri"/>
              <a:cs typeface="Calibri"/>
              <a:sym typeface="Calibri"/>
            </a:endParaRPr>
          </a:p>
        </p:txBody>
      </p:sp>
      <p:sp>
        <p:nvSpPr>
          <p:cNvPr id="291" name="Google Shape;291;p11"/>
          <p:cNvSpPr/>
          <p:nvPr/>
        </p:nvSpPr>
        <p:spPr>
          <a:xfrm>
            <a:off x="9258157" y="4056295"/>
            <a:ext cx="7791544" cy="3930596"/>
          </a:xfrm>
          <a:prstGeom prst="roundRect">
            <a:avLst>
              <a:gd fmla="val 969" name="adj"/>
            </a:avLst>
          </a:prstGeom>
          <a:solidFill>
            <a:srgbClr val="1313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1"/>
          <p:cNvSpPr/>
          <p:nvPr/>
        </p:nvSpPr>
        <p:spPr>
          <a:xfrm>
            <a:off x="9258157" y="7980630"/>
            <a:ext cx="7791544" cy="9525"/>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1"/>
          <p:cNvSpPr/>
          <p:nvPr/>
        </p:nvSpPr>
        <p:spPr>
          <a:xfrm>
            <a:off x="9258157" y="4056295"/>
            <a:ext cx="7791544" cy="18781"/>
          </a:xfrm>
          <a:prstGeom prst="rect">
            <a:avLst/>
          </a:prstGeom>
          <a:solidFill>
            <a:srgbClr val="FFB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1"/>
          <p:cNvSpPr/>
          <p:nvPr/>
        </p:nvSpPr>
        <p:spPr>
          <a:xfrm>
            <a:off x="9258157" y="4056295"/>
            <a:ext cx="9525" cy="3930596"/>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1"/>
          <p:cNvSpPr/>
          <p:nvPr/>
        </p:nvSpPr>
        <p:spPr>
          <a:xfrm>
            <a:off x="17043441" y="4056295"/>
            <a:ext cx="9525" cy="3930596"/>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
          <p:cNvSpPr/>
          <p:nvPr/>
        </p:nvSpPr>
        <p:spPr>
          <a:xfrm>
            <a:off x="9607276" y="4455986"/>
            <a:ext cx="7802637"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B020"/>
              </a:buClr>
              <a:buSzPts val="1425"/>
              <a:buFont typeface="Space Mono"/>
              <a:buNone/>
            </a:pPr>
            <a:r>
              <a:rPr b="1" i="0" lang="en-US" sz="1425" u="none" cap="none" strike="noStrike">
                <a:solidFill>
                  <a:srgbClr val="FFB020"/>
                </a:solidFill>
                <a:latin typeface="Space Mono"/>
                <a:ea typeface="Space Mono"/>
                <a:cs typeface="Space Mono"/>
                <a:sym typeface="Space Mono"/>
              </a:rPr>
              <a:t>NOT YET</a:t>
            </a:r>
            <a:endParaRPr b="0" i="0" sz="1425" u="none" cap="none" strike="noStrike">
              <a:solidFill>
                <a:schemeClr val="dk1"/>
              </a:solidFill>
              <a:latin typeface="Calibri"/>
              <a:ea typeface="Calibri"/>
              <a:cs typeface="Calibri"/>
              <a:sym typeface="Calibri"/>
            </a:endParaRPr>
          </a:p>
        </p:txBody>
      </p:sp>
      <p:sp>
        <p:nvSpPr>
          <p:cNvPr id="297" name="Google Shape;297;p11"/>
          <p:cNvSpPr/>
          <p:nvPr/>
        </p:nvSpPr>
        <p:spPr>
          <a:xfrm>
            <a:off x="9607276" y="4909381"/>
            <a:ext cx="7802637" cy="423804"/>
          </a:xfrm>
          <a:prstGeom prst="rect">
            <a:avLst/>
          </a:prstGeom>
          <a:noFill/>
          <a:ln>
            <a:noFill/>
          </a:ln>
        </p:spPr>
        <p:txBody>
          <a:bodyPr anchorCtr="0" anchor="t" bIns="25400" lIns="25400" spcFirstLastPara="1" rIns="25400" wrap="square" tIns="25400">
            <a:normAutofit/>
          </a:bodyPr>
          <a:lstStyle/>
          <a:p>
            <a:pPr indent="0" lvl="0" marL="0" marR="0" rtl="0" algn="l">
              <a:lnSpc>
                <a:spcPct val="131104"/>
              </a:lnSpc>
              <a:spcBef>
                <a:spcPts val="0"/>
              </a:spcBef>
              <a:spcAft>
                <a:spcPts val="0"/>
              </a:spcAft>
              <a:buClr>
                <a:srgbClr val="B5B5B5"/>
              </a:buClr>
              <a:buSzPts val="2025"/>
              <a:buFont typeface="Arial"/>
              <a:buNone/>
            </a:pPr>
            <a:r>
              <a:rPr b="0" i="0" lang="en-US" sz="2025" u="none" cap="none" strike="noStrike">
                <a:solidFill>
                  <a:srgbClr val="B5B5B5"/>
                </a:solidFill>
                <a:latin typeface="Arial"/>
                <a:ea typeface="Arial"/>
                <a:cs typeface="Arial"/>
                <a:sym typeface="Arial"/>
              </a:rPr>
              <a:t>The amount is public — it equals the published price</a:t>
            </a:r>
            <a:endParaRPr b="0" i="0" sz="2025" u="none" cap="none" strike="noStrike">
              <a:solidFill>
                <a:schemeClr val="dk1"/>
              </a:solidFill>
              <a:latin typeface="Calibri"/>
              <a:ea typeface="Calibri"/>
              <a:cs typeface="Calibri"/>
              <a:sym typeface="Calibri"/>
            </a:endParaRPr>
          </a:p>
        </p:txBody>
      </p:sp>
      <p:sp>
        <p:nvSpPr>
          <p:cNvPr id="298" name="Google Shape;298;p11"/>
          <p:cNvSpPr/>
          <p:nvPr/>
        </p:nvSpPr>
        <p:spPr>
          <a:xfrm>
            <a:off x="9607276" y="5485540"/>
            <a:ext cx="7802637" cy="423804"/>
          </a:xfrm>
          <a:prstGeom prst="rect">
            <a:avLst/>
          </a:prstGeom>
          <a:noFill/>
          <a:ln>
            <a:noFill/>
          </a:ln>
        </p:spPr>
        <p:txBody>
          <a:bodyPr anchorCtr="0" anchor="t" bIns="25400" lIns="25400" spcFirstLastPara="1" rIns="25400" wrap="square" tIns="25400">
            <a:normAutofit/>
          </a:bodyPr>
          <a:lstStyle/>
          <a:p>
            <a:pPr indent="0" lvl="0" marL="0" marR="0" rtl="0" algn="l">
              <a:lnSpc>
                <a:spcPct val="131104"/>
              </a:lnSpc>
              <a:spcBef>
                <a:spcPts val="0"/>
              </a:spcBef>
              <a:spcAft>
                <a:spcPts val="0"/>
              </a:spcAft>
              <a:buClr>
                <a:srgbClr val="B5B5B5"/>
              </a:buClr>
              <a:buSzPts val="2025"/>
              <a:buFont typeface="Arial"/>
              <a:buNone/>
            </a:pPr>
            <a:r>
              <a:rPr b="0" i="0" lang="en-US" sz="2025" u="none" cap="none" strike="noStrike">
                <a:solidFill>
                  <a:srgbClr val="B5B5B5"/>
                </a:solidFill>
                <a:latin typeface="Arial"/>
                <a:ea typeface="Arial"/>
                <a:cs typeface="Arial"/>
                <a:sym typeface="Arial"/>
              </a:rPr>
              <a:t>Payment and delivery are not atomic — no refund circuit yet</a:t>
            </a:r>
            <a:endParaRPr b="0" i="0" sz="2025" u="none" cap="none" strike="noStrike">
              <a:solidFill>
                <a:schemeClr val="dk1"/>
              </a:solidFill>
              <a:latin typeface="Calibri"/>
              <a:ea typeface="Calibri"/>
              <a:cs typeface="Calibri"/>
              <a:sym typeface="Calibri"/>
            </a:endParaRPr>
          </a:p>
        </p:txBody>
      </p:sp>
      <p:sp>
        <p:nvSpPr>
          <p:cNvPr id="299" name="Google Shape;299;p11"/>
          <p:cNvSpPr/>
          <p:nvPr/>
        </p:nvSpPr>
        <p:spPr>
          <a:xfrm>
            <a:off x="9607276" y="6061699"/>
            <a:ext cx="7802637" cy="423804"/>
          </a:xfrm>
          <a:prstGeom prst="rect">
            <a:avLst/>
          </a:prstGeom>
          <a:noFill/>
          <a:ln>
            <a:noFill/>
          </a:ln>
        </p:spPr>
        <p:txBody>
          <a:bodyPr anchorCtr="0" anchor="t" bIns="25400" lIns="25400" spcFirstLastPara="1" rIns="25400" wrap="square" tIns="25400">
            <a:normAutofit/>
          </a:bodyPr>
          <a:lstStyle/>
          <a:p>
            <a:pPr indent="0" lvl="0" marL="0" marR="0" rtl="0" algn="l">
              <a:lnSpc>
                <a:spcPct val="131104"/>
              </a:lnSpc>
              <a:spcBef>
                <a:spcPts val="0"/>
              </a:spcBef>
              <a:spcAft>
                <a:spcPts val="0"/>
              </a:spcAft>
              <a:buClr>
                <a:srgbClr val="B5B5B5"/>
              </a:buClr>
              <a:buSzPts val="2025"/>
              <a:buFont typeface="Arial"/>
              <a:buNone/>
            </a:pPr>
            <a:r>
              <a:rPr b="0" i="0" lang="en-US" sz="2025" u="none" cap="none" strike="noStrike">
                <a:solidFill>
                  <a:srgbClr val="B5B5B5"/>
                </a:solidFill>
                <a:latin typeface="Arial"/>
                <a:ea typeface="Arial"/>
                <a:cs typeface="Arial"/>
                <a:sym typeface="Arial"/>
              </a:rPr>
              <a:t>Privacy is bounded by the anonymity set, and the pool is small</a:t>
            </a:r>
            <a:endParaRPr b="0" i="0" sz="2025" u="none" cap="none" strike="noStrike">
              <a:solidFill>
                <a:schemeClr val="dk1"/>
              </a:solidFill>
              <a:latin typeface="Calibri"/>
              <a:ea typeface="Calibri"/>
              <a:cs typeface="Calibri"/>
              <a:sym typeface="Calibri"/>
            </a:endParaRPr>
          </a:p>
        </p:txBody>
      </p:sp>
      <p:sp>
        <p:nvSpPr>
          <p:cNvPr id="300" name="Google Shape;300;p11"/>
          <p:cNvSpPr/>
          <p:nvPr/>
        </p:nvSpPr>
        <p:spPr>
          <a:xfrm>
            <a:off x="9607276" y="6637858"/>
            <a:ext cx="7802637" cy="423804"/>
          </a:xfrm>
          <a:prstGeom prst="rect">
            <a:avLst/>
          </a:prstGeom>
          <a:noFill/>
          <a:ln>
            <a:noFill/>
          </a:ln>
        </p:spPr>
        <p:txBody>
          <a:bodyPr anchorCtr="0" anchor="t" bIns="25400" lIns="25400" spcFirstLastPara="1" rIns="25400" wrap="square" tIns="25400">
            <a:normAutofit/>
          </a:bodyPr>
          <a:lstStyle/>
          <a:p>
            <a:pPr indent="0" lvl="0" marL="0" marR="0" rtl="0" algn="l">
              <a:lnSpc>
                <a:spcPct val="131104"/>
              </a:lnSpc>
              <a:spcBef>
                <a:spcPts val="0"/>
              </a:spcBef>
              <a:spcAft>
                <a:spcPts val="0"/>
              </a:spcAft>
              <a:buClr>
                <a:srgbClr val="B5B5B5"/>
              </a:buClr>
              <a:buSzPts val="2025"/>
              <a:buFont typeface="Arial"/>
              <a:buNone/>
            </a:pPr>
            <a:r>
              <a:rPr b="0" i="0" lang="en-US" sz="2025" u="none" cap="none" strike="noStrike">
                <a:solidFill>
                  <a:srgbClr val="B5B5B5"/>
                </a:solidFill>
                <a:latin typeface="Arial"/>
                <a:ea typeface="Arial"/>
                <a:cs typeface="Arial"/>
                <a:sym typeface="Arial"/>
              </a:rPr>
              <a:t>The relayer is a trusted operator, and its services are curated</a:t>
            </a:r>
            <a:endParaRPr b="0" i="0" sz="2025" u="none" cap="none" strike="noStrike">
              <a:solidFill>
                <a:schemeClr val="dk1"/>
              </a:solidFill>
              <a:latin typeface="Calibri"/>
              <a:ea typeface="Calibri"/>
              <a:cs typeface="Calibri"/>
              <a:sym typeface="Calibri"/>
            </a:endParaRPr>
          </a:p>
        </p:txBody>
      </p:sp>
      <p:sp>
        <p:nvSpPr>
          <p:cNvPr id="301" name="Google Shape;301;p11"/>
          <p:cNvSpPr/>
          <p:nvPr/>
        </p:nvSpPr>
        <p:spPr>
          <a:xfrm>
            <a:off x="9607276" y="7214016"/>
            <a:ext cx="7802637" cy="423804"/>
          </a:xfrm>
          <a:prstGeom prst="rect">
            <a:avLst/>
          </a:prstGeom>
          <a:noFill/>
          <a:ln>
            <a:noFill/>
          </a:ln>
        </p:spPr>
        <p:txBody>
          <a:bodyPr anchorCtr="0" anchor="t" bIns="25400" lIns="25400" spcFirstLastPara="1" rIns="25400" wrap="square" tIns="25400">
            <a:normAutofit/>
          </a:bodyPr>
          <a:lstStyle/>
          <a:p>
            <a:pPr indent="0" lvl="0" marL="0" marR="0" rtl="0" algn="l">
              <a:lnSpc>
                <a:spcPct val="131104"/>
              </a:lnSpc>
              <a:spcBef>
                <a:spcPts val="0"/>
              </a:spcBef>
              <a:spcAft>
                <a:spcPts val="0"/>
              </a:spcAft>
              <a:buClr>
                <a:srgbClr val="B5B5B5"/>
              </a:buClr>
              <a:buSzPts val="2025"/>
              <a:buFont typeface="Arial"/>
              <a:buNone/>
            </a:pPr>
            <a:r>
              <a:rPr b="0" i="0" lang="en-US" sz="2025" u="none" cap="none" strike="noStrike">
                <a:solidFill>
                  <a:srgbClr val="B5B5B5"/>
                </a:solidFill>
                <a:latin typeface="Arial"/>
                <a:ea typeface="Arial"/>
                <a:cs typeface="Arial"/>
                <a:sym typeface="Arial"/>
              </a:rPr>
              <a:t>Midnight Preview only</a:t>
            </a:r>
            <a:endParaRPr b="0" i="0" sz="2025" u="none" cap="none" strike="noStrike">
              <a:solidFill>
                <a:schemeClr val="dk1"/>
              </a:solidFill>
              <a:latin typeface="Calibri"/>
              <a:ea typeface="Calibri"/>
              <a:cs typeface="Calibri"/>
              <a:sym typeface="Calibri"/>
            </a:endParaRPr>
          </a:p>
        </p:txBody>
      </p:sp>
      <p:sp>
        <p:nvSpPr>
          <p:cNvPr id="302" name="Google Shape;302;p11"/>
          <p:cNvSpPr/>
          <p:nvPr/>
        </p:nvSpPr>
        <p:spPr>
          <a:xfrm>
            <a:off x="1238203" y="895745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0" i="0" lang="en-US" sz="1500" u="none" cap="none" strike="noStrike">
                <a:solidFill>
                  <a:srgbClr val="8F8F8F"/>
                </a:solidFill>
                <a:latin typeface="Space Mono"/>
                <a:ea typeface="Space Mono"/>
                <a:cs typeface="Space Mono"/>
                <a:sym typeface="Space Mono"/>
              </a:rPr>
              <a:t>11 / 13</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07" name="Shape 307"/>
        <p:cNvGrpSpPr/>
        <p:nvPr/>
      </p:nvGrpSpPr>
      <p:grpSpPr>
        <a:xfrm>
          <a:off x="0" y="0"/>
          <a:ext cx="0" cy="0"/>
          <a:chOff x="0" y="0"/>
          <a:chExt cx="0" cy="0"/>
        </a:xfrm>
      </p:grpSpPr>
      <p:sp>
        <p:nvSpPr>
          <p:cNvPr id="308" name="Google Shape;308;p12"/>
          <p:cNvSpPr/>
          <p:nvPr/>
        </p:nvSpPr>
        <p:spPr>
          <a:xfrm>
            <a:off x="1238203" y="104774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1" i="0" lang="en-US" sz="1500" u="none" cap="none" strike="noStrike">
                <a:solidFill>
                  <a:srgbClr val="8F8F8F"/>
                </a:solidFill>
                <a:latin typeface="Space Mono"/>
                <a:ea typeface="Space Mono"/>
                <a:cs typeface="Space Mono"/>
                <a:sym typeface="Space Mono"/>
              </a:rPr>
              <a:t>TEAM</a:t>
            </a:r>
            <a:endParaRPr b="0" i="0" sz="1500" u="none" cap="none" strike="noStrike">
              <a:solidFill>
                <a:schemeClr val="dk1"/>
              </a:solidFill>
              <a:latin typeface="Calibri"/>
              <a:ea typeface="Calibri"/>
              <a:cs typeface="Calibri"/>
              <a:sym typeface="Calibri"/>
            </a:endParaRPr>
          </a:p>
        </p:txBody>
      </p:sp>
      <p:sp>
        <p:nvSpPr>
          <p:cNvPr id="309" name="Google Shape;309;p12"/>
          <p:cNvSpPr/>
          <p:nvPr/>
        </p:nvSpPr>
        <p:spPr>
          <a:xfrm>
            <a:off x="1238203" y="1616906"/>
            <a:ext cx="14668500" cy="687600"/>
          </a:xfrm>
          <a:prstGeom prst="rect">
            <a:avLst/>
          </a:prstGeom>
          <a:noFill/>
          <a:ln>
            <a:noFill/>
          </a:ln>
        </p:spPr>
        <p:txBody>
          <a:bodyPr anchorCtr="0" anchor="t" bIns="25400" lIns="25400" spcFirstLastPara="1" rIns="25400" wrap="square" tIns="25400">
            <a:normAutofit/>
          </a:bodyPr>
          <a:lstStyle/>
          <a:p>
            <a:pPr indent="0" lvl="0" marL="0" marR="0" rtl="0" algn="l">
              <a:lnSpc>
                <a:spcPct val="96077"/>
              </a:lnSpc>
              <a:spcBef>
                <a:spcPts val="0"/>
              </a:spcBef>
              <a:spcAft>
                <a:spcPts val="0"/>
              </a:spcAft>
              <a:buClr>
                <a:srgbClr val="FFFFFF"/>
              </a:buClr>
              <a:buSzPts val="4650"/>
              <a:buFont typeface="Arial"/>
              <a:buNone/>
            </a:pPr>
            <a:r>
              <a:rPr b="0" i="0" lang="en-US" sz="4650" u="none" cap="none" strike="noStrike">
                <a:solidFill>
                  <a:srgbClr val="FFFFFF"/>
                </a:solidFill>
                <a:latin typeface="Arial"/>
                <a:ea typeface="Arial"/>
                <a:cs typeface="Arial"/>
                <a:sym typeface="Arial"/>
              </a:rPr>
              <a:t>Three people who have shipped this kind of system before.</a:t>
            </a:r>
            <a:endParaRPr b="0" i="0" sz="4650" u="none" cap="none" strike="noStrike">
              <a:solidFill>
                <a:schemeClr val="dk1"/>
              </a:solidFill>
              <a:latin typeface="Calibri"/>
              <a:ea typeface="Calibri"/>
              <a:cs typeface="Calibri"/>
              <a:sym typeface="Calibri"/>
            </a:endParaRPr>
          </a:p>
        </p:txBody>
      </p:sp>
      <p:sp>
        <p:nvSpPr>
          <p:cNvPr id="310" name="Google Shape;310;p12"/>
          <p:cNvSpPr/>
          <p:nvPr/>
        </p:nvSpPr>
        <p:spPr>
          <a:xfrm>
            <a:off x="1238203" y="3399532"/>
            <a:ext cx="2095496" cy="2095496"/>
          </a:xfrm>
          <a:prstGeom prst="ellipse">
            <a:avLst/>
          </a:prstGeom>
          <a:solidFill>
            <a:srgbClr val="131313"/>
          </a:solid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1" name="Google Shape;311;p12"/>
          <p:cNvPicPr preferRelativeResize="0"/>
          <p:nvPr/>
        </p:nvPicPr>
        <p:blipFill rotWithShape="1">
          <a:blip r:embed="rId3">
            <a:alphaModFix/>
          </a:blip>
          <a:srcRect b="0" l="0" r="0" t="0"/>
          <a:stretch/>
        </p:blipFill>
        <p:spPr>
          <a:xfrm>
            <a:off x="1244464" y="3405793"/>
            <a:ext cx="2082975" cy="2082975"/>
          </a:xfrm>
          <a:prstGeom prst="rect">
            <a:avLst/>
          </a:prstGeom>
          <a:noFill/>
          <a:ln>
            <a:noFill/>
          </a:ln>
        </p:spPr>
      </p:pic>
      <p:sp>
        <p:nvSpPr>
          <p:cNvPr id="312" name="Google Shape;312;p12"/>
          <p:cNvSpPr/>
          <p:nvPr/>
        </p:nvSpPr>
        <p:spPr>
          <a:xfrm>
            <a:off x="1238203" y="5742611"/>
            <a:ext cx="5406453" cy="426738"/>
          </a:xfrm>
          <a:prstGeom prst="rect">
            <a:avLst/>
          </a:prstGeom>
          <a:noFill/>
          <a:ln>
            <a:noFill/>
          </a:ln>
        </p:spPr>
        <p:txBody>
          <a:bodyPr anchorCtr="0" anchor="t" bIns="25400" lIns="25400" spcFirstLastPara="1" rIns="25400" wrap="square" tIns="25400">
            <a:normAutofit/>
          </a:bodyPr>
          <a:lstStyle/>
          <a:p>
            <a:pPr indent="0" lvl="0" marL="0" marR="0" rtl="0" algn="l">
              <a:lnSpc>
                <a:spcPct val="103459"/>
              </a:lnSpc>
              <a:spcBef>
                <a:spcPts val="0"/>
              </a:spcBef>
              <a:spcAft>
                <a:spcPts val="0"/>
              </a:spcAft>
              <a:buClr>
                <a:srgbClr val="FFFFFF"/>
              </a:buClr>
              <a:buSzPts val="2550"/>
              <a:buFont typeface="Arial"/>
              <a:buNone/>
            </a:pPr>
            <a:r>
              <a:rPr b="0" i="0" lang="en-US" sz="2550" u="none" cap="none" strike="noStrike">
                <a:solidFill>
                  <a:srgbClr val="FFFFFF"/>
                </a:solidFill>
                <a:latin typeface="Arial"/>
                <a:ea typeface="Arial"/>
                <a:cs typeface="Arial"/>
                <a:sym typeface="Arial"/>
              </a:rPr>
              <a:t>Julian Ariel Martinez</a:t>
            </a:r>
            <a:endParaRPr b="0" i="0" sz="2550" u="none" cap="none" strike="noStrike">
              <a:solidFill>
                <a:schemeClr val="dk1"/>
              </a:solidFill>
              <a:latin typeface="Calibri"/>
              <a:ea typeface="Calibri"/>
              <a:cs typeface="Calibri"/>
              <a:sym typeface="Calibri"/>
            </a:endParaRPr>
          </a:p>
        </p:txBody>
      </p:sp>
      <p:sp>
        <p:nvSpPr>
          <p:cNvPr id="313" name="Google Shape;313;p12"/>
          <p:cNvSpPr/>
          <p:nvPr/>
        </p:nvSpPr>
        <p:spPr>
          <a:xfrm>
            <a:off x="1238203" y="6207353"/>
            <a:ext cx="5406453"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686FF"/>
              </a:buClr>
              <a:buSzPts val="1425"/>
              <a:buFont typeface="Space Mono"/>
              <a:buNone/>
            </a:pPr>
            <a:r>
              <a:rPr b="1" i="0" lang="en-US" sz="1425" u="none" cap="none" strike="noStrike">
                <a:solidFill>
                  <a:srgbClr val="8686FF"/>
                </a:solidFill>
                <a:latin typeface="Space Mono"/>
                <a:ea typeface="Space Mono"/>
                <a:cs typeface="Space Mono"/>
                <a:sym typeface="Space Mono"/>
              </a:rPr>
              <a:t>ENGINEERING LEAD</a:t>
            </a:r>
            <a:endParaRPr b="0" i="0" sz="1425" u="none" cap="none" strike="noStrike">
              <a:solidFill>
                <a:schemeClr val="dk1"/>
              </a:solidFill>
              <a:latin typeface="Calibri"/>
              <a:ea typeface="Calibri"/>
              <a:cs typeface="Calibri"/>
              <a:sym typeface="Calibri"/>
            </a:endParaRPr>
          </a:p>
        </p:txBody>
      </p:sp>
      <p:sp>
        <p:nvSpPr>
          <p:cNvPr id="314" name="Google Shape;314;p12"/>
          <p:cNvSpPr/>
          <p:nvPr/>
        </p:nvSpPr>
        <p:spPr>
          <a:xfrm>
            <a:off x="1238203" y="6717874"/>
            <a:ext cx="5062406" cy="1466661"/>
          </a:xfrm>
          <a:prstGeom prst="rect">
            <a:avLst/>
          </a:prstGeom>
          <a:noFill/>
          <a:ln>
            <a:noFill/>
          </a:ln>
        </p:spPr>
        <p:txBody>
          <a:bodyPr anchorCtr="0" anchor="t" bIns="25400" lIns="25400" spcFirstLastPara="1" rIns="25400" wrap="square" tIns="25400">
            <a:normAutofit/>
          </a:bodyPr>
          <a:lstStyle/>
          <a:p>
            <a:pPr indent="0" lvl="0" marL="0" marR="0" rtl="0" algn="l">
              <a:lnSpc>
                <a:spcPct val="132685"/>
              </a:lnSpc>
              <a:spcBef>
                <a:spcPts val="0"/>
              </a:spcBef>
              <a:spcAft>
                <a:spcPts val="0"/>
              </a:spcAft>
              <a:buClr>
                <a:srgbClr val="B5B5B5"/>
              </a:buClr>
              <a:buSzPts val="1875"/>
              <a:buFont typeface="Arial"/>
              <a:buNone/>
            </a:pPr>
            <a:r>
              <a:rPr b="0" i="0" lang="en-US" sz="1875" u="none" cap="none" strike="noStrike">
                <a:solidFill>
                  <a:srgbClr val="B5B5B5"/>
                </a:solidFill>
                <a:latin typeface="Arial"/>
                <a:ea typeface="Arial"/>
                <a:cs typeface="Arial"/>
                <a:sym typeface="Arial"/>
              </a:rPr>
              <a:t>Software engineer, 10+ years, 5+ of them in blockchain. Has built and led engineering on the official Bittensor TAO bridge, among several others.</a:t>
            </a:r>
            <a:endParaRPr b="0" i="0" sz="1875" u="none" cap="none" strike="noStrike">
              <a:solidFill>
                <a:schemeClr val="dk1"/>
              </a:solidFill>
              <a:latin typeface="Calibri"/>
              <a:ea typeface="Calibri"/>
              <a:cs typeface="Calibri"/>
              <a:sym typeface="Calibri"/>
            </a:endParaRPr>
          </a:p>
        </p:txBody>
      </p:sp>
      <p:sp>
        <p:nvSpPr>
          <p:cNvPr id="315" name="Google Shape;315;p12"/>
          <p:cNvSpPr/>
          <p:nvPr/>
        </p:nvSpPr>
        <p:spPr>
          <a:xfrm>
            <a:off x="6686474" y="3399532"/>
            <a:ext cx="2095496" cy="2095496"/>
          </a:xfrm>
          <a:prstGeom prst="ellipse">
            <a:avLst/>
          </a:prstGeom>
          <a:solidFill>
            <a:srgbClr val="131313"/>
          </a:solid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6" name="Google Shape;316;p12"/>
          <p:cNvPicPr preferRelativeResize="0"/>
          <p:nvPr/>
        </p:nvPicPr>
        <p:blipFill rotWithShape="1">
          <a:blip r:embed="rId4">
            <a:alphaModFix/>
          </a:blip>
          <a:srcRect b="0" l="4742" r="4742" t="0"/>
          <a:stretch/>
        </p:blipFill>
        <p:spPr>
          <a:xfrm>
            <a:off x="6692735" y="3405793"/>
            <a:ext cx="2082975" cy="2082975"/>
          </a:xfrm>
          <a:prstGeom prst="rect">
            <a:avLst/>
          </a:prstGeom>
          <a:noFill/>
          <a:ln>
            <a:noFill/>
          </a:ln>
        </p:spPr>
      </p:pic>
      <p:sp>
        <p:nvSpPr>
          <p:cNvPr id="317" name="Google Shape;317;p12"/>
          <p:cNvSpPr/>
          <p:nvPr/>
        </p:nvSpPr>
        <p:spPr>
          <a:xfrm>
            <a:off x="6686474" y="5742611"/>
            <a:ext cx="5406453" cy="426738"/>
          </a:xfrm>
          <a:prstGeom prst="rect">
            <a:avLst/>
          </a:prstGeom>
          <a:noFill/>
          <a:ln>
            <a:noFill/>
          </a:ln>
        </p:spPr>
        <p:txBody>
          <a:bodyPr anchorCtr="0" anchor="t" bIns="25400" lIns="25400" spcFirstLastPara="1" rIns="25400" wrap="square" tIns="25400">
            <a:normAutofit/>
          </a:bodyPr>
          <a:lstStyle/>
          <a:p>
            <a:pPr indent="0" lvl="0" marL="0" marR="0" rtl="0" algn="l">
              <a:lnSpc>
                <a:spcPct val="103459"/>
              </a:lnSpc>
              <a:spcBef>
                <a:spcPts val="0"/>
              </a:spcBef>
              <a:spcAft>
                <a:spcPts val="0"/>
              </a:spcAft>
              <a:buClr>
                <a:srgbClr val="FFFFFF"/>
              </a:buClr>
              <a:buSzPts val="2550"/>
              <a:buFont typeface="Arial"/>
              <a:buNone/>
            </a:pPr>
            <a:r>
              <a:rPr b="0" i="0" lang="en-US" sz="2550" u="none" cap="none" strike="noStrike">
                <a:solidFill>
                  <a:srgbClr val="FFFFFF"/>
                </a:solidFill>
                <a:latin typeface="Arial"/>
                <a:ea typeface="Arial"/>
                <a:cs typeface="Arial"/>
                <a:sym typeface="Arial"/>
              </a:rPr>
              <a:t>Martín Lecam</a:t>
            </a:r>
            <a:endParaRPr b="0" i="0" sz="2550" u="none" cap="none" strike="noStrike">
              <a:solidFill>
                <a:schemeClr val="dk1"/>
              </a:solidFill>
              <a:latin typeface="Calibri"/>
              <a:ea typeface="Calibri"/>
              <a:cs typeface="Calibri"/>
              <a:sym typeface="Calibri"/>
            </a:endParaRPr>
          </a:p>
        </p:txBody>
      </p:sp>
      <p:sp>
        <p:nvSpPr>
          <p:cNvPr id="318" name="Google Shape;318;p12"/>
          <p:cNvSpPr/>
          <p:nvPr/>
        </p:nvSpPr>
        <p:spPr>
          <a:xfrm>
            <a:off x="6686474" y="6207353"/>
            <a:ext cx="5406453"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686FF"/>
              </a:buClr>
              <a:buSzPts val="1425"/>
              <a:buFont typeface="Space Mono"/>
              <a:buNone/>
            </a:pPr>
            <a:r>
              <a:rPr b="1" i="0" lang="en-US" sz="1425" u="none" cap="none" strike="noStrike">
                <a:solidFill>
                  <a:srgbClr val="8686FF"/>
                </a:solidFill>
                <a:latin typeface="Space Mono"/>
                <a:ea typeface="Space Mono"/>
                <a:cs typeface="Space Mono"/>
                <a:sym typeface="Space Mono"/>
              </a:rPr>
              <a:t>SYSTEMS ENGINEER</a:t>
            </a:r>
            <a:endParaRPr b="0" i="0" sz="1425" u="none" cap="none" strike="noStrike">
              <a:solidFill>
                <a:schemeClr val="dk1"/>
              </a:solidFill>
              <a:latin typeface="Calibri"/>
              <a:ea typeface="Calibri"/>
              <a:cs typeface="Calibri"/>
              <a:sym typeface="Calibri"/>
            </a:endParaRPr>
          </a:p>
        </p:txBody>
      </p:sp>
      <p:sp>
        <p:nvSpPr>
          <p:cNvPr id="319" name="Google Shape;319;p12"/>
          <p:cNvSpPr/>
          <p:nvPr/>
        </p:nvSpPr>
        <p:spPr>
          <a:xfrm>
            <a:off x="6686474" y="6717874"/>
            <a:ext cx="5062406" cy="1109521"/>
          </a:xfrm>
          <a:prstGeom prst="rect">
            <a:avLst/>
          </a:prstGeom>
          <a:noFill/>
          <a:ln>
            <a:noFill/>
          </a:ln>
        </p:spPr>
        <p:txBody>
          <a:bodyPr anchorCtr="0" anchor="t" bIns="25400" lIns="25400" spcFirstLastPara="1" rIns="25400" wrap="square" tIns="25400">
            <a:normAutofit/>
          </a:bodyPr>
          <a:lstStyle/>
          <a:p>
            <a:pPr indent="0" lvl="0" marL="0" marR="0" rtl="0" algn="l">
              <a:lnSpc>
                <a:spcPct val="132685"/>
              </a:lnSpc>
              <a:spcBef>
                <a:spcPts val="0"/>
              </a:spcBef>
              <a:spcAft>
                <a:spcPts val="0"/>
              </a:spcAft>
              <a:buClr>
                <a:srgbClr val="B5B5B5"/>
              </a:buClr>
              <a:buSzPts val="1875"/>
              <a:buFont typeface="Arial"/>
              <a:buNone/>
            </a:pPr>
            <a:r>
              <a:rPr b="0" i="0" lang="en-US" sz="1875" u="none" cap="none" strike="noStrike">
                <a:solidFill>
                  <a:srgbClr val="B5B5B5"/>
                </a:solidFill>
                <a:latin typeface="Arial"/>
                <a:ea typeface="Arial"/>
                <a:cs typeface="Arial"/>
                <a:sym typeface="Arial"/>
              </a:rPr>
              <a:t>Over ten years designing systems where failure is not an option, for global financial and energy institutions including JP Morgan and Chevron.</a:t>
            </a:r>
            <a:endParaRPr b="0" i="0" sz="1875" u="none" cap="none" strike="noStrike">
              <a:solidFill>
                <a:schemeClr val="dk1"/>
              </a:solidFill>
              <a:latin typeface="Calibri"/>
              <a:ea typeface="Calibri"/>
              <a:cs typeface="Calibri"/>
              <a:sym typeface="Calibri"/>
            </a:endParaRPr>
          </a:p>
        </p:txBody>
      </p:sp>
      <p:sp>
        <p:nvSpPr>
          <p:cNvPr id="320" name="Google Shape;320;p12"/>
          <p:cNvSpPr/>
          <p:nvPr/>
        </p:nvSpPr>
        <p:spPr>
          <a:xfrm>
            <a:off x="12134744" y="3399532"/>
            <a:ext cx="2095496" cy="2095496"/>
          </a:xfrm>
          <a:prstGeom prst="ellipse">
            <a:avLst/>
          </a:prstGeom>
          <a:solidFill>
            <a:srgbClr val="131313"/>
          </a:solid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1" name="Google Shape;321;p12"/>
          <p:cNvPicPr preferRelativeResize="0"/>
          <p:nvPr/>
        </p:nvPicPr>
        <p:blipFill rotWithShape="1">
          <a:blip r:embed="rId5">
            <a:alphaModFix/>
          </a:blip>
          <a:srcRect b="12295" l="0" r="0" t="2884"/>
          <a:stretch/>
        </p:blipFill>
        <p:spPr>
          <a:xfrm>
            <a:off x="12134750" y="3399550"/>
            <a:ext cx="2095501" cy="2095500"/>
          </a:xfrm>
          <a:prstGeom prst="rect">
            <a:avLst/>
          </a:prstGeom>
          <a:noFill/>
          <a:ln>
            <a:noFill/>
          </a:ln>
        </p:spPr>
      </p:pic>
      <p:sp>
        <p:nvSpPr>
          <p:cNvPr id="322" name="Google Shape;322;p12"/>
          <p:cNvSpPr/>
          <p:nvPr/>
        </p:nvSpPr>
        <p:spPr>
          <a:xfrm>
            <a:off x="12134744" y="5742611"/>
            <a:ext cx="5406453" cy="426738"/>
          </a:xfrm>
          <a:prstGeom prst="rect">
            <a:avLst/>
          </a:prstGeom>
          <a:noFill/>
          <a:ln>
            <a:noFill/>
          </a:ln>
        </p:spPr>
        <p:txBody>
          <a:bodyPr anchorCtr="0" anchor="t" bIns="25400" lIns="25400" spcFirstLastPara="1" rIns="25400" wrap="square" tIns="25400">
            <a:normAutofit/>
          </a:bodyPr>
          <a:lstStyle/>
          <a:p>
            <a:pPr indent="0" lvl="0" marL="0" marR="0" rtl="0" algn="l">
              <a:lnSpc>
                <a:spcPct val="103459"/>
              </a:lnSpc>
              <a:spcBef>
                <a:spcPts val="0"/>
              </a:spcBef>
              <a:spcAft>
                <a:spcPts val="0"/>
              </a:spcAft>
              <a:buClr>
                <a:srgbClr val="FFFFFF"/>
              </a:buClr>
              <a:buSzPts val="2550"/>
              <a:buFont typeface="Arial"/>
              <a:buNone/>
            </a:pPr>
            <a:r>
              <a:rPr b="0" i="0" lang="en-US" sz="2550" u="none" cap="none" strike="noStrike">
                <a:solidFill>
                  <a:srgbClr val="FFFFFF"/>
                </a:solidFill>
                <a:latin typeface="Arial"/>
                <a:ea typeface="Arial"/>
                <a:cs typeface="Arial"/>
                <a:sym typeface="Arial"/>
              </a:rPr>
              <a:t>Sebastián Rosenberg</a:t>
            </a:r>
            <a:endParaRPr b="0" i="0" sz="2550" u="none" cap="none" strike="noStrike">
              <a:solidFill>
                <a:schemeClr val="dk1"/>
              </a:solidFill>
              <a:latin typeface="Calibri"/>
              <a:ea typeface="Calibri"/>
              <a:cs typeface="Calibri"/>
              <a:sym typeface="Calibri"/>
            </a:endParaRPr>
          </a:p>
        </p:txBody>
      </p:sp>
      <p:sp>
        <p:nvSpPr>
          <p:cNvPr id="323" name="Google Shape;323;p12"/>
          <p:cNvSpPr/>
          <p:nvPr/>
        </p:nvSpPr>
        <p:spPr>
          <a:xfrm>
            <a:off x="12134744" y="6207353"/>
            <a:ext cx="5406453" cy="301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686FF"/>
              </a:buClr>
              <a:buSzPts val="1425"/>
              <a:buFont typeface="Space Mono"/>
              <a:buNone/>
            </a:pPr>
            <a:r>
              <a:rPr b="1" i="0" lang="en-US" sz="1425" u="none" cap="none" strike="noStrike">
                <a:solidFill>
                  <a:srgbClr val="8686FF"/>
                </a:solidFill>
                <a:latin typeface="Space Mono"/>
                <a:ea typeface="Space Mono"/>
                <a:cs typeface="Space Mono"/>
                <a:sym typeface="Space Mono"/>
              </a:rPr>
              <a:t>ACCOUNT &amp; PROJECT MANAGER</a:t>
            </a:r>
            <a:endParaRPr b="0" i="0" sz="1425" u="none" cap="none" strike="noStrike">
              <a:solidFill>
                <a:schemeClr val="dk1"/>
              </a:solidFill>
              <a:latin typeface="Calibri"/>
              <a:ea typeface="Calibri"/>
              <a:cs typeface="Calibri"/>
              <a:sym typeface="Calibri"/>
            </a:endParaRPr>
          </a:p>
        </p:txBody>
      </p:sp>
      <p:sp>
        <p:nvSpPr>
          <p:cNvPr id="324" name="Google Shape;324;p12"/>
          <p:cNvSpPr/>
          <p:nvPr/>
        </p:nvSpPr>
        <p:spPr>
          <a:xfrm>
            <a:off x="12134744" y="6717874"/>
            <a:ext cx="5062406" cy="1466661"/>
          </a:xfrm>
          <a:prstGeom prst="rect">
            <a:avLst/>
          </a:prstGeom>
          <a:noFill/>
          <a:ln>
            <a:noFill/>
          </a:ln>
        </p:spPr>
        <p:txBody>
          <a:bodyPr anchorCtr="0" anchor="t" bIns="25400" lIns="25400" spcFirstLastPara="1" rIns="25400" wrap="square" tIns="25400">
            <a:normAutofit/>
          </a:bodyPr>
          <a:lstStyle/>
          <a:p>
            <a:pPr indent="0" lvl="0" marL="0" marR="0" rtl="0" algn="l">
              <a:lnSpc>
                <a:spcPct val="132685"/>
              </a:lnSpc>
              <a:spcBef>
                <a:spcPts val="0"/>
              </a:spcBef>
              <a:spcAft>
                <a:spcPts val="0"/>
              </a:spcAft>
              <a:buClr>
                <a:srgbClr val="B5B5B5"/>
              </a:buClr>
              <a:buSzPts val="1875"/>
              <a:buFont typeface="Arial"/>
              <a:buNone/>
            </a:pPr>
            <a:r>
              <a:rPr b="0" i="0" lang="en-US" sz="1875" u="none" cap="none" strike="noStrike">
                <a:solidFill>
                  <a:srgbClr val="B5B5B5"/>
                </a:solidFill>
                <a:latin typeface="Arial"/>
                <a:ea typeface="Arial"/>
                <a:cs typeface="Arial"/>
                <a:sym typeface="Arial"/>
              </a:rPr>
              <a:t>8 years in crypto, leading projects for the Arbitrum Foundation, Stacks Foundation and Rootstock, among others. Has secured 15+ grants across the space.</a:t>
            </a:r>
            <a:endParaRPr b="0" i="0" sz="1875" u="none" cap="none" strike="noStrike">
              <a:solidFill>
                <a:schemeClr val="dk1"/>
              </a:solidFill>
              <a:latin typeface="Calibri"/>
              <a:ea typeface="Calibri"/>
              <a:cs typeface="Calibri"/>
              <a:sym typeface="Calibri"/>
            </a:endParaRPr>
          </a:p>
        </p:txBody>
      </p:sp>
      <p:sp>
        <p:nvSpPr>
          <p:cNvPr id="325" name="Google Shape;325;p12"/>
          <p:cNvSpPr/>
          <p:nvPr/>
        </p:nvSpPr>
        <p:spPr>
          <a:xfrm>
            <a:off x="1238203" y="895745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0" i="0" lang="en-US" sz="1500" u="none" cap="none" strike="noStrike">
                <a:solidFill>
                  <a:srgbClr val="8F8F8F"/>
                </a:solidFill>
                <a:latin typeface="Space Mono"/>
                <a:ea typeface="Space Mono"/>
                <a:cs typeface="Space Mono"/>
                <a:sym typeface="Space Mono"/>
              </a:rPr>
              <a:t>12 / 13</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30" name="Shape 330"/>
        <p:cNvGrpSpPr/>
        <p:nvPr/>
      </p:nvGrpSpPr>
      <p:grpSpPr>
        <a:xfrm>
          <a:off x="0" y="0"/>
          <a:ext cx="0" cy="0"/>
          <a:chOff x="0" y="0"/>
          <a:chExt cx="0" cy="0"/>
        </a:xfrm>
      </p:grpSpPr>
      <p:sp>
        <p:nvSpPr>
          <p:cNvPr id="331" name="Google Shape;331;p13"/>
          <p:cNvSpPr/>
          <p:nvPr/>
        </p:nvSpPr>
        <p:spPr>
          <a:xfrm>
            <a:off x="1238203" y="1047748"/>
            <a:ext cx="17392647" cy="31982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500"/>
              <a:buFont typeface="Space Mono"/>
              <a:buNone/>
            </a:pPr>
            <a:r>
              <a:rPr b="1" i="0" lang="en-US" sz="1500" u="none" cap="none" strike="noStrike">
                <a:solidFill>
                  <a:srgbClr val="8F8F8F"/>
                </a:solidFill>
                <a:latin typeface="Space Mono"/>
                <a:ea typeface="Space Mono"/>
                <a:cs typeface="Space Mono"/>
                <a:sym typeface="Space Mono"/>
              </a:rPr>
              <a:t>M402</a:t>
            </a:r>
            <a:endParaRPr b="0" i="0" sz="1500" u="none" cap="none" strike="noStrike">
              <a:solidFill>
                <a:schemeClr val="dk1"/>
              </a:solidFill>
              <a:latin typeface="Calibri"/>
              <a:ea typeface="Calibri"/>
              <a:cs typeface="Calibri"/>
              <a:sym typeface="Calibri"/>
            </a:endParaRPr>
          </a:p>
        </p:txBody>
      </p:sp>
      <p:sp>
        <p:nvSpPr>
          <p:cNvPr id="332" name="Google Shape;332;p13"/>
          <p:cNvSpPr/>
          <p:nvPr/>
        </p:nvSpPr>
        <p:spPr>
          <a:xfrm>
            <a:off x="1238203" y="3610334"/>
            <a:ext cx="15304697" cy="1714536"/>
          </a:xfrm>
          <a:prstGeom prst="rect">
            <a:avLst/>
          </a:prstGeom>
          <a:noFill/>
          <a:ln>
            <a:noFill/>
          </a:ln>
        </p:spPr>
        <p:txBody>
          <a:bodyPr anchorCtr="0" anchor="t" bIns="25400" lIns="25400" spcFirstLastPara="1" rIns="25400" wrap="square" tIns="25400">
            <a:normAutofit/>
          </a:bodyPr>
          <a:lstStyle/>
          <a:p>
            <a:pPr indent="0" lvl="0" marL="0" marR="0" rtl="0" algn="l">
              <a:lnSpc>
                <a:spcPct val="95634"/>
              </a:lnSpc>
              <a:spcBef>
                <a:spcPts val="0"/>
              </a:spcBef>
              <a:spcAft>
                <a:spcPts val="0"/>
              </a:spcAft>
              <a:buClr>
                <a:srgbClr val="FFFFFF"/>
              </a:buClr>
              <a:buSzPts val="6000"/>
              <a:buFont typeface="Arial"/>
              <a:buNone/>
            </a:pPr>
            <a:r>
              <a:rPr b="0" i="0" lang="en-US" sz="6000" u="none" cap="none" strike="noStrike">
                <a:solidFill>
                  <a:srgbClr val="FFFFFF"/>
                </a:solidFill>
                <a:latin typeface="Arial"/>
                <a:ea typeface="Arial"/>
                <a:cs typeface="Arial"/>
                <a:sym typeface="Arial"/>
              </a:rPr>
              <a:t>The chain records that someone paid the price. It does not record who.</a:t>
            </a:r>
            <a:endParaRPr b="0" i="0" sz="6000" u="none" cap="none" strike="noStrike">
              <a:solidFill>
                <a:schemeClr val="dk1"/>
              </a:solidFill>
              <a:latin typeface="Calibri"/>
              <a:ea typeface="Calibri"/>
              <a:cs typeface="Calibri"/>
              <a:sym typeface="Calibri"/>
            </a:endParaRPr>
          </a:p>
        </p:txBody>
      </p:sp>
      <p:sp>
        <p:nvSpPr>
          <p:cNvPr id="333" name="Google Shape;333;p13"/>
          <p:cNvSpPr/>
          <p:nvPr/>
        </p:nvSpPr>
        <p:spPr>
          <a:xfrm>
            <a:off x="1238203" y="5705830"/>
            <a:ext cx="11772851" cy="952520"/>
          </a:xfrm>
          <a:prstGeom prst="rect">
            <a:avLst/>
          </a:prstGeom>
          <a:noFill/>
          <a:ln>
            <a:noFill/>
          </a:ln>
        </p:spPr>
        <p:txBody>
          <a:bodyPr anchorCtr="0" anchor="t" bIns="25400" lIns="25400" spcFirstLastPara="1" rIns="25400" wrap="square" tIns="25400">
            <a:normAutofit/>
          </a:bodyPr>
          <a:lstStyle/>
          <a:p>
            <a:pPr indent="0" lvl="0" marL="0" marR="0" rtl="0" algn="l">
              <a:lnSpc>
                <a:spcPct val="130410"/>
              </a:lnSpc>
              <a:spcBef>
                <a:spcPts val="0"/>
              </a:spcBef>
              <a:spcAft>
                <a:spcPts val="0"/>
              </a:spcAft>
              <a:buClr>
                <a:srgbClr val="B5B5B5"/>
              </a:buClr>
              <a:buSzPts val="2400"/>
              <a:buFont typeface="Arial"/>
              <a:buNone/>
            </a:pPr>
            <a:r>
              <a:rPr b="0" i="0" lang="en-US" sz="2400" u="none" cap="none" strike="noStrike">
                <a:solidFill>
                  <a:srgbClr val="B5B5B5"/>
                </a:solidFill>
                <a:latin typeface="Arial"/>
                <a:ea typeface="Arial"/>
                <a:cs typeface="Arial"/>
                <a:sym typeface="Arial"/>
              </a:rPr>
              <a:t>x402 keeps its flow. Midnight supplies the privacy. An agent can pay for what it uses without publishing what it does.</a:t>
            </a:r>
            <a:endParaRPr b="0" i="0" sz="2400" u="none" cap="none" strike="noStrike">
              <a:solidFill>
                <a:schemeClr val="dk1"/>
              </a:solidFill>
              <a:latin typeface="Calibri"/>
              <a:ea typeface="Calibri"/>
              <a:cs typeface="Calibri"/>
              <a:sym typeface="Calibri"/>
            </a:endParaRPr>
          </a:p>
        </p:txBody>
      </p:sp>
      <p:sp>
        <p:nvSpPr>
          <p:cNvPr id="334" name="Google Shape;334;p13"/>
          <p:cNvSpPr/>
          <p:nvPr/>
        </p:nvSpPr>
        <p:spPr>
          <a:xfrm>
            <a:off x="1238203" y="8901115"/>
            <a:ext cx="635925" cy="37616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Space Mono"/>
              <a:buNone/>
            </a:pPr>
            <a:r>
              <a:rPr b="0" i="0" lang="en-US" sz="1800" u="none" cap="none" strike="noStrike">
                <a:solidFill>
                  <a:srgbClr val="FFFFFF"/>
                </a:solidFill>
                <a:latin typeface="Space Mono"/>
                <a:ea typeface="Space Mono"/>
                <a:cs typeface="Space Mono"/>
                <a:sym typeface="Space Mono"/>
              </a:rPr>
              <a:t>m</a:t>
            </a:r>
            <a:r>
              <a:rPr b="0" i="0" lang="en-US" sz="1800" u="none" cap="none" strike="noStrike">
                <a:solidFill>
                  <a:srgbClr val="0000FE"/>
                </a:solidFill>
                <a:latin typeface="Space Mono"/>
                <a:ea typeface="Space Mono"/>
                <a:cs typeface="Space Mono"/>
                <a:sym typeface="Space Mono"/>
              </a:rPr>
              <a:t>402</a:t>
            </a:r>
            <a:endParaRPr b="0" i="0" sz="1800" u="none" cap="none" strike="noStrike">
              <a:solidFill>
                <a:schemeClr val="dk1"/>
              </a:solidFill>
              <a:latin typeface="Calibri"/>
              <a:ea typeface="Calibri"/>
              <a:cs typeface="Calibri"/>
              <a:sym typeface="Calibri"/>
            </a:endParaRPr>
          </a:p>
        </p:txBody>
      </p:sp>
      <p:sp>
        <p:nvSpPr>
          <p:cNvPr id="335" name="Google Shape;335;p13"/>
          <p:cNvSpPr/>
          <p:nvPr/>
        </p:nvSpPr>
        <p:spPr>
          <a:xfrm>
            <a:off x="2331242" y="8901115"/>
            <a:ext cx="216180" cy="37616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D4D4D"/>
              </a:buClr>
              <a:buSzPts val="1800"/>
              <a:buFont typeface="Space Mono"/>
              <a:buNone/>
            </a:pPr>
            <a:r>
              <a:rPr b="0" i="0" lang="en-US" sz="1800" u="none" cap="none" strike="noStrike">
                <a:solidFill>
                  <a:srgbClr val="4D4D4D"/>
                </a:solidFill>
                <a:latin typeface="Space Mono"/>
                <a:ea typeface="Space Mono"/>
                <a:cs typeface="Space Mono"/>
                <a:sym typeface="Space Mono"/>
              </a:rPr>
              <a:t>·</a:t>
            </a:r>
            <a:endParaRPr b="0" i="0" sz="1800" u="none" cap="none" strike="noStrike">
              <a:solidFill>
                <a:schemeClr val="dk1"/>
              </a:solidFill>
              <a:latin typeface="Calibri"/>
              <a:ea typeface="Calibri"/>
              <a:cs typeface="Calibri"/>
              <a:sym typeface="Calibri"/>
            </a:endParaRPr>
          </a:p>
        </p:txBody>
      </p:sp>
      <p:pic>
        <p:nvPicPr>
          <p:cNvPr descr="preencoded.png" id="336" name="Google Shape;336;p13"/>
          <p:cNvPicPr preferRelativeResize="0"/>
          <p:nvPr/>
        </p:nvPicPr>
        <p:blipFill rotWithShape="1">
          <a:blip r:embed="rId3">
            <a:alphaModFix/>
          </a:blip>
          <a:srcRect b="0" l="0" r="0" t="0"/>
          <a:stretch/>
        </p:blipFill>
        <p:spPr>
          <a:xfrm>
            <a:off x="3004536" y="8908256"/>
            <a:ext cx="323784" cy="323784"/>
          </a:xfrm>
          <a:prstGeom prst="rect">
            <a:avLst/>
          </a:prstGeom>
          <a:noFill/>
          <a:ln>
            <a:noFill/>
          </a:ln>
        </p:spPr>
      </p:pic>
      <p:sp>
        <p:nvSpPr>
          <p:cNvPr id="337" name="Google Shape;337;p13"/>
          <p:cNvSpPr/>
          <p:nvPr/>
        </p:nvSpPr>
        <p:spPr>
          <a:xfrm>
            <a:off x="3861633" y="8901115"/>
            <a:ext cx="216180" cy="37616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D4D4D"/>
              </a:buClr>
              <a:buSzPts val="1800"/>
              <a:buFont typeface="Space Mono"/>
              <a:buNone/>
            </a:pPr>
            <a:r>
              <a:rPr b="0" i="0" lang="en-US" sz="1800" u="none" cap="none" strike="noStrike">
                <a:solidFill>
                  <a:srgbClr val="4D4D4D"/>
                </a:solidFill>
                <a:latin typeface="Space Mono"/>
                <a:ea typeface="Space Mono"/>
                <a:cs typeface="Space Mono"/>
                <a:sym typeface="Space Mono"/>
              </a:rPr>
              <a:t>·</a:t>
            </a:r>
            <a:endParaRPr b="0" i="0" sz="1800" u="none" cap="none" strike="noStrike">
              <a:solidFill>
                <a:schemeClr val="dk1"/>
              </a:solidFill>
              <a:latin typeface="Calibri"/>
              <a:ea typeface="Calibri"/>
              <a:cs typeface="Calibri"/>
              <a:sym typeface="Calibri"/>
            </a:endParaRPr>
          </a:p>
        </p:txBody>
      </p:sp>
      <p:sp>
        <p:nvSpPr>
          <p:cNvPr id="338" name="Google Shape;338;p13"/>
          <p:cNvSpPr/>
          <p:nvPr/>
        </p:nvSpPr>
        <p:spPr>
          <a:xfrm>
            <a:off x="4534927" y="8901115"/>
            <a:ext cx="1055474" cy="37616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8F8F"/>
              </a:buClr>
              <a:buSzPts val="1800"/>
              <a:buFont typeface="Space Mono"/>
              <a:buNone/>
            </a:pPr>
            <a:r>
              <a:rPr b="0" i="0" lang="en-US" sz="1800" u="none" cap="none" strike="noStrike">
                <a:solidFill>
                  <a:srgbClr val="8F8F8F"/>
                </a:solidFill>
                <a:latin typeface="Space Mono"/>
                <a:ea typeface="Space Mono"/>
                <a:cs typeface="Space Mono"/>
                <a:sym typeface="Space Mono"/>
              </a:rPr>
              <a:t>13 / 13</a:t>
            </a:r>
            <a:endParaRPr b="0" i="0" sz="1800" u="none" cap="none" strike="noStrike">
              <a:solidFill>
                <a:schemeClr val="dk1"/>
              </a:solidFill>
              <a:latin typeface="Calibri"/>
              <a:ea typeface="Calibri"/>
              <a:cs typeface="Calibri"/>
              <a:sym typeface="Calibri"/>
            </a:endParaRPr>
          </a:p>
        </p:txBody>
      </p:sp>
      <p:sp>
        <p:nvSpPr>
          <p:cNvPr id="339" name="Google Shape;339;p13"/>
          <p:cNvSpPr txBox="1"/>
          <p:nvPr/>
        </p:nvSpPr>
        <p:spPr>
          <a:xfrm>
            <a:off x="1238200" y="7567625"/>
            <a:ext cx="6774300" cy="790200"/>
          </a:xfrm>
          <a:prstGeom prst="rect">
            <a:avLst/>
          </a:prstGeom>
          <a:noFill/>
          <a:ln>
            <a:noFill/>
          </a:ln>
        </p:spPr>
        <p:txBody>
          <a:bodyPr anchorCtr="0" anchor="t" bIns="91425" lIns="91425" spcFirstLastPara="1" rIns="91425" wrap="square" tIns="91425">
            <a:spAutoFit/>
          </a:bodyPr>
          <a:lstStyle/>
          <a:p>
            <a:pPr indent="0" lvl="0" marL="0" rtl="0" algn="l">
              <a:lnSpc>
                <a:spcPct val="85535"/>
              </a:lnSpc>
              <a:spcBef>
                <a:spcPts val="0"/>
              </a:spcBef>
              <a:spcAft>
                <a:spcPts val="0"/>
              </a:spcAft>
              <a:buNone/>
            </a:pPr>
            <a:r>
              <a:rPr lang="en-US" sz="4600" u="sng">
                <a:solidFill>
                  <a:schemeClr val="hlink"/>
                </a:solidFill>
                <a:latin typeface="Outfit"/>
                <a:ea typeface="Outfit"/>
                <a:cs typeface="Outfit"/>
                <a:sym typeface="Outfit"/>
                <a:hlinkClick r:id="rId4"/>
              </a:rPr>
              <a:t>Link to the site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2026-08-08T15:03:27Z</dcterms:created>
  <dc:creator>PptxGenJS</dc:creator>
</cp:coreProperties>
</file>